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8" r:id="rId2"/>
    <p:sldId id="259" r:id="rId3"/>
    <p:sldId id="271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04"/>
    <a:srgbClr val="FDA007"/>
    <a:srgbClr val="067C68"/>
    <a:srgbClr val="00AF92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4660"/>
  </p:normalViewPr>
  <p:slideViewPr>
    <p:cSldViewPr>
      <p:cViewPr varScale="1">
        <p:scale>
          <a:sx n="147" d="100"/>
          <a:sy n="147" d="100"/>
        </p:scale>
        <p:origin x="69" y="108"/>
      </p:cViewPr>
      <p:guideLst>
        <p:guide orient="horz" pos="23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6FD99-B1FA-4331-8905-DB39E8B288F7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A5662-EE05-40AE-BC81-81279C4CD0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274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104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893"/>
            <a:ext cx="6858000" cy="1242039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8035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2026/2/3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8983"/>
            <a:ext cx="7886700" cy="326407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2026/2/3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8650" y="1640869"/>
            <a:ext cx="7886700" cy="1862662"/>
          </a:xfrm>
        </p:spPr>
        <p:txBody>
          <a:bodyPr>
            <a:normAutofit/>
          </a:bodyPr>
          <a:lstStyle>
            <a:lvl1pPr algn="ctr">
              <a:defRPr sz="45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458"/>
            <a:ext cx="3886200" cy="32640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458"/>
            <a:ext cx="3886200" cy="32640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994346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950"/>
            <a:ext cx="3868340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2050"/>
            <a:ext cx="3868340" cy="268100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950"/>
            <a:ext cx="3887391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2050"/>
            <a:ext cx="3887391" cy="268100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5" y="1619533"/>
            <a:ext cx="4286250" cy="1037019"/>
          </a:xfrm>
        </p:spPr>
        <p:txBody>
          <a:bodyPr anchor="b" anchorCtr="0">
            <a:normAutofit/>
          </a:bodyPr>
          <a:lstStyle>
            <a:lvl1pPr algn="ctr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2428875" y="2800391"/>
            <a:ext cx="4286250" cy="88960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535348"/>
            <a:ext cx="3511241" cy="1071308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31888" y="535348"/>
            <a:ext cx="4283912" cy="405340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735708"/>
            <a:ext cx="3511241" cy="2859191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8035" indent="0">
              <a:buNone/>
              <a:defRPr sz="750"/>
            </a:lvl7pPr>
            <a:lvl8pPr marL="2400935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2026/2/3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833674" y="273892"/>
            <a:ext cx="681676" cy="4359641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49" y="273892"/>
            <a:ext cx="7084832" cy="4359641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730"/>
            <a:ext cx="7886700" cy="416995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itlbo/data_agent_yaml/blob/master/table_infos.ya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hyperlink" Target="https://gitee.com/itlbo/data_agent_yaml/blob/master/metric_infos.ya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itlbo/data_agent_yaml/blob/master/filtered_metric_infos.ya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ee.com/itlbo/data_agent_yaml/blob/master/filtered_table_infos.ya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9795340-B22B-1014-AE72-41100BF4D43B}"/>
              </a:ext>
            </a:extLst>
          </p:cNvPr>
          <p:cNvSpPr/>
          <p:nvPr/>
        </p:nvSpPr>
        <p:spPr>
          <a:xfrm>
            <a:off x="4067944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16D7567-597A-BFFA-8E57-6CCC5AFBAD53}"/>
              </a:ext>
            </a:extLst>
          </p:cNvPr>
          <p:cNvSpPr/>
          <p:nvPr/>
        </p:nvSpPr>
        <p:spPr>
          <a:xfrm>
            <a:off x="262778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1DFFB2F-86F5-9683-CDDF-77D87F368F1C}"/>
              </a:ext>
            </a:extLst>
          </p:cNvPr>
          <p:cNvSpPr/>
          <p:nvPr/>
        </p:nvSpPr>
        <p:spPr>
          <a:xfrm>
            <a:off x="3995936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C41F902-D959-E237-2BEE-07A3635DBDFB}"/>
              </a:ext>
            </a:extLst>
          </p:cNvPr>
          <p:cNvSpPr/>
          <p:nvPr/>
        </p:nvSpPr>
        <p:spPr>
          <a:xfrm>
            <a:off x="5364088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76121EF-11F4-6DA4-5C44-03AD8DA1D9AE}"/>
              </a:ext>
            </a:extLst>
          </p:cNvPr>
          <p:cNvSpPr/>
          <p:nvPr/>
        </p:nvSpPr>
        <p:spPr>
          <a:xfrm>
            <a:off x="3995936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C47E8F8-2E8B-7346-F1D4-3A3834580BEE}"/>
              </a:ext>
            </a:extLst>
          </p:cNvPr>
          <p:cNvSpPr/>
          <p:nvPr/>
        </p:nvSpPr>
        <p:spPr>
          <a:xfrm>
            <a:off x="3203848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B125864-2BD8-1BE1-E92C-B96DA63F4B88}"/>
              </a:ext>
            </a:extLst>
          </p:cNvPr>
          <p:cNvSpPr/>
          <p:nvPr/>
        </p:nvSpPr>
        <p:spPr>
          <a:xfrm>
            <a:off x="478802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AFD23BE-BFA9-0BA0-ABA9-B6AB404E60BF}"/>
              </a:ext>
            </a:extLst>
          </p:cNvPr>
          <p:cNvSpPr/>
          <p:nvPr/>
        </p:nvSpPr>
        <p:spPr>
          <a:xfrm>
            <a:off x="3923928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4814565-09C1-3750-F70B-7B45939E8D78}"/>
              </a:ext>
            </a:extLst>
          </p:cNvPr>
          <p:cNvSpPr/>
          <p:nvPr/>
        </p:nvSpPr>
        <p:spPr>
          <a:xfrm>
            <a:off x="4103948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72D4988-1238-578E-8405-87F742078D91}"/>
              </a:ext>
            </a:extLst>
          </p:cNvPr>
          <p:cNvSpPr/>
          <p:nvPr/>
        </p:nvSpPr>
        <p:spPr>
          <a:xfrm>
            <a:off x="4103948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7E09331-537B-CF9B-05A8-6C214588B316}"/>
              </a:ext>
            </a:extLst>
          </p:cNvPr>
          <p:cNvSpPr/>
          <p:nvPr/>
        </p:nvSpPr>
        <p:spPr>
          <a:xfrm>
            <a:off x="5292080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A671F14-6686-779F-CCDE-A7E88DE24B1D}"/>
              </a:ext>
            </a:extLst>
          </p:cNvPr>
          <p:cNvSpPr/>
          <p:nvPr/>
        </p:nvSpPr>
        <p:spPr>
          <a:xfrm>
            <a:off x="4103948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D761C40E-4F91-84C5-2AAA-E7606596CDF0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3743908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BAA81052-850F-FB09-76E3-B81226FF89EF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5112060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DD3ABEA-ED15-E28B-0ABE-AA6212CC6174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4572000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D91F9D4-F371-6EB1-0CC7-E9295BDD8962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4572000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281B9B35-F9E0-4FB0-4646-EFA2C87242F6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3743908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6DC282E3-F9CF-5903-46FD-11BA936487B3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5112060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D8183248-5C7C-39E0-14BA-6B1039A3A99D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4031940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EA5CC790-15BD-AF46-F6F4-66D2B584464A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4824028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91A20C41-F938-8A42-BA8C-DB8F90BFAA1B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4031940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5F31A348-9E4D-A852-5F9E-F88E86F31489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4824028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6103DBD-C72F-842F-1F28-1DECAD09397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4572000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D2170BD8-9C70-EBE7-9ABF-90AE74B3EE74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4572000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E3CB4778-684C-C9B9-1C7F-D194ABACAC68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5040052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BE129BBA-BB20-7B4D-A902-3A0D8C639658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4986046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869FE63-364A-B13E-702B-EE71FA3A53B1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4572000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CD3D412E-4EB4-C0DC-7238-22DF45D4D540}"/>
              </a:ext>
            </a:extLst>
          </p:cNvPr>
          <p:cNvSpPr txBox="1"/>
          <p:nvPr/>
        </p:nvSpPr>
        <p:spPr>
          <a:xfrm>
            <a:off x="4067944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BCBD9F6E-6FF4-15FB-1D70-47E946BE2544}"/>
              </a:ext>
            </a:extLst>
          </p:cNvPr>
          <p:cNvSpPr txBox="1"/>
          <p:nvPr/>
        </p:nvSpPr>
        <p:spPr>
          <a:xfrm>
            <a:off x="5148064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43CF-4B2B-9F06-4305-DE73D77C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001867A-168C-E66F-1FF0-E97AB14D5654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B762A4E-D943-A251-BD54-D91E02D10D81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9008B18-17CD-2844-BF40-D137AE857622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28BF6ED-0CF9-ACC3-CB29-C00ABFD50D8D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892FDEF-6CD0-F814-FCB6-915C06EA9C05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684A5CD-31EF-E193-2169-2000252CE556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F4BB69B-3C18-4FD8-FE40-39A390C59875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010470A-1314-E810-AF00-F9476C901052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B60FC5E-E6A4-9B06-BC5F-D6850C89D243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263733E-16AC-BAF4-77B1-EF2D2EF4D162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ED8568-312D-DD97-5022-E266C98038A7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0091308-C38E-2BBF-2719-D86B9B6A7280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6A6B106-30AF-4B36-2572-ABEE5E9F9E07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920A70BD-7F4C-DA6D-3C12-75ECF9B6C5FA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B1EC35DE-A68D-298A-F833-F67B9B12F79A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48E840D-4031-1023-5B6D-033CC7557BA5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E0F91BEE-512E-20BE-1203-ECF114FC0CB3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713934D1-4800-C69D-D30F-FC8F23F8AB78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1165DA7B-23C2-7D7C-9429-9DEF3D0BA557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061D5D9F-DFED-C71C-2593-ED39EB398AED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30BCBEA8-1823-6D5D-9656-F33B4B90DC7E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088CD45A-8F7B-6BFC-6C23-D46A1DDAF650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8EC8911F-DC0B-7CF9-8B90-68FC07A117C3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71D93EE5-D787-79EF-9929-7D76075BC38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7B273DAA-A3EE-2FF8-34BA-2CAFC55C9BA3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9DB03218-C323-91E0-7E2A-77B78E2C5419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8A3DE6C9-B345-CEFC-6B42-24134FC12C8D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A8B1EDDB-2206-AAE5-310E-5D876D6F03A4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B9073A36-4EEB-9ED8-FC7F-22C2A9ED56EB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F092858E-3A5E-7A43-C72E-D0E5838E46DC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2564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D3995-1072-8D56-6C9B-ABE0041A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E2493C2-C621-7598-97A3-2EABBEF171E9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0FF4F32-0A47-D821-0E15-3C6AF529FF65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7015255-6204-2056-2253-00C54A8CE09E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57A7F2D-343C-83D9-1C72-C59050E60DA4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1A103BA-2D92-09A2-A644-4AD357A0565C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7CD932D-5F68-D479-7775-695EF13682AA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C9FFC1C-2F98-B9E2-3B32-F77826FAF193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3EA781C-D469-B549-3108-0A030F9AC31F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2D15A0A-3157-D5BB-2707-A81C31C5A8C6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5282062-E565-610A-55D2-93EAE0A8ED14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131D7F1-ADF7-0736-D029-6B88A9E9D8AF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9C7D393-9BBE-53FC-9C3C-998EF6871F9B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F4AE4B3-05CC-1A45-73A9-320549337589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DA893D49-6FF1-31C4-D0B7-F731185FCC4C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8915D5B2-0C01-EF95-F085-EBD5DC46CD89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2AC23B20-72AA-6FF5-AFAD-C063C4242982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5F8B197-E7B0-8017-E9F5-2D15FAE42AEF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AD3D0EDD-1B6C-5405-A8EB-0D35899D654A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1C9E066A-43FD-C26D-5AE4-70C79351C1FE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DA499072-A5F7-52F8-C0DA-C11D951FC581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C4CCF1B7-E8D1-2C04-3DB9-14583FA55F7D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F0A3F4A8-DC76-A37D-6F67-C2508E62519C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AD88B5DE-7C34-73B8-C5AC-01C05A1947A3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C63D4D59-6C4F-FBA9-1090-3CC4EBCA0E61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A0A13656-BDCB-A102-AAB7-044E80FF0D01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115A7F6D-8760-9CDE-2794-D520371CD3B8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341D2B42-08C6-AC48-C073-F53128A5F150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E55B93F0-9073-410B-E5C3-BCCD1D3AB189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FB9FF2E4-A93C-4F8C-1E01-534B74B43F2B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9980234-0772-286B-9041-05CF2939A578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4202A9-0BCF-4E99-3A70-AB05DBF84940}"/>
              </a:ext>
            </a:extLst>
          </p:cNvPr>
          <p:cNvSpPr txBox="1"/>
          <p:nvPr/>
        </p:nvSpPr>
        <p:spPr>
          <a:xfrm>
            <a:off x="4860032" y="915566"/>
            <a:ext cx="4104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使用 </a:t>
            </a:r>
            <a:r>
              <a:rPr lang="en-US" altLang="zh-CN" sz="1100" b="1"/>
              <a:t>jieba.analyse</a:t>
            </a:r>
            <a:r>
              <a:rPr lang="zh-CN" altLang="en-US" sz="1100"/>
              <a:t>（</a:t>
            </a:r>
            <a:r>
              <a:rPr lang="en-US" altLang="zh-CN" sz="1100"/>
              <a:t>TF-IDF </a:t>
            </a:r>
            <a:r>
              <a:rPr lang="zh-CN" altLang="en-US" sz="1100"/>
              <a:t>算法）对用户的自然语言提问做关键词提取。目标是从杂乱的表达中去除无关内容，识别出对数据库查询真正有用的核心实体和查询意图，从而为后续的召回与检索提供更准确、更高置信度的输入。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AB27799-A86A-5E4D-D52F-0F35A6ADF5BD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C0A46C-0E9D-AECA-3CF8-D2F1F0CF9F82}"/>
              </a:ext>
            </a:extLst>
          </p:cNvPr>
          <p:cNvSpPr txBox="1"/>
          <p:nvPr/>
        </p:nvSpPr>
        <p:spPr>
          <a:xfrm>
            <a:off x="5796136" y="2139702"/>
            <a:ext cx="2232248" cy="374571"/>
          </a:xfrm>
          <a:prstGeom prst="roundRect">
            <a:avLst/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endParaRPr lang="en-US" altLang="zh-CN" sz="1100"/>
          </a:p>
          <a:p>
            <a:pPr algn="ctr"/>
            <a:r>
              <a:rPr lang="zh-CN" altLang="en-US" sz="1100"/>
              <a:t>帮我统计一下华北地区的销售总额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CC9771-8551-7EF1-22FF-1888CEE68722}"/>
              </a:ext>
            </a:extLst>
          </p:cNvPr>
          <p:cNvSpPr/>
          <p:nvPr/>
        </p:nvSpPr>
        <p:spPr>
          <a:xfrm>
            <a:off x="4932040" y="1851670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0B952D9-1AD3-DCBA-603B-A70A18D0A88F}"/>
              </a:ext>
            </a:extLst>
          </p:cNvPr>
          <p:cNvSpPr txBox="1"/>
          <p:nvPr/>
        </p:nvSpPr>
        <p:spPr>
          <a:xfrm>
            <a:off x="6012160" y="2845251"/>
            <a:ext cx="1800200" cy="374571"/>
          </a:xfrm>
          <a:prstGeom prst="roundRect">
            <a:avLst/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华北地区,  统计,  销售总额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90AA277-F68B-8E1E-CC76-E9FBBAF9A9A5}"/>
              </a:ext>
            </a:extLst>
          </p:cNvPr>
          <p:cNvSpPr/>
          <p:nvPr/>
        </p:nvSpPr>
        <p:spPr>
          <a:xfrm>
            <a:off x="4932040" y="3291830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注意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A10C85-2D20-96FA-7BFC-7017D1D3E479}"/>
              </a:ext>
            </a:extLst>
          </p:cNvPr>
          <p:cNvSpPr txBox="1"/>
          <p:nvPr/>
        </p:nvSpPr>
        <p:spPr>
          <a:xfrm>
            <a:off x="4860032" y="3579862"/>
            <a:ext cx="41044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为防止丢失重要信息，原始问题也会加入关键词列表。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C269485-2062-6E06-E9B7-44688B78CF03}"/>
              </a:ext>
            </a:extLst>
          </p:cNvPr>
          <p:cNvSpPr/>
          <p:nvPr/>
        </p:nvSpPr>
        <p:spPr>
          <a:xfrm>
            <a:off x="6948264" y="2571750"/>
            <a:ext cx="720080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b="1"/>
              <a:t>jieba.analyse</a:t>
            </a:r>
            <a:endParaRPr lang="zh-CN" altLang="en-US" sz="800" b="1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3CA7360-E408-7024-241D-A814C6EE4610}"/>
              </a:ext>
            </a:extLst>
          </p:cNvPr>
          <p:cNvCxnSpPr>
            <a:cxnSpLocks/>
            <a:stCxn id="18" idx="2"/>
            <a:endCxn id="52" idx="0"/>
          </p:cNvCxnSpPr>
          <p:nvPr/>
        </p:nvCxnSpPr>
        <p:spPr>
          <a:xfrm>
            <a:off x="6912260" y="2514273"/>
            <a:ext cx="0" cy="273501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7960CE2-36ED-6A07-BC67-6DB727796A36}"/>
              </a:ext>
            </a:extLst>
          </p:cNvPr>
          <p:cNvSpPr/>
          <p:nvPr/>
        </p:nvSpPr>
        <p:spPr>
          <a:xfrm>
            <a:off x="6948264" y="4371950"/>
            <a:ext cx="720080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/>
              <a:t>加入原始问题</a:t>
            </a: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FC6D15E-7EEE-B6CD-153E-0735CC1B9992}"/>
              </a:ext>
            </a:extLst>
          </p:cNvPr>
          <p:cNvCxnSpPr>
            <a:cxnSpLocks/>
            <a:stCxn id="55" idx="2"/>
            <a:endCxn id="60" idx="0"/>
          </p:cNvCxnSpPr>
          <p:nvPr/>
        </p:nvCxnSpPr>
        <p:spPr>
          <a:xfrm>
            <a:off x="6912260" y="4314473"/>
            <a:ext cx="0" cy="288032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7420CF6E-D2DA-D225-40CB-0FFEA179F8E6}"/>
              </a:ext>
            </a:extLst>
          </p:cNvPr>
          <p:cNvSpPr/>
          <p:nvPr/>
        </p:nvSpPr>
        <p:spPr>
          <a:xfrm>
            <a:off x="6660232" y="2067694"/>
            <a:ext cx="50405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query</a:t>
            </a:r>
            <a:endParaRPr lang="zh-CN" altLang="en-US" sz="1000" b="1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C6B7081-065F-5E3E-4C60-44AC56278F42}"/>
              </a:ext>
            </a:extLst>
          </p:cNvPr>
          <p:cNvSpPr/>
          <p:nvPr/>
        </p:nvSpPr>
        <p:spPr>
          <a:xfrm>
            <a:off x="6588224" y="2787774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919FF54-FDFC-1AE9-C9BF-75B00571B44F}"/>
              </a:ext>
            </a:extLst>
          </p:cNvPr>
          <p:cNvSpPr txBox="1"/>
          <p:nvPr/>
        </p:nvSpPr>
        <p:spPr>
          <a:xfrm>
            <a:off x="6012160" y="3939902"/>
            <a:ext cx="1800200" cy="374571"/>
          </a:xfrm>
          <a:prstGeom prst="roundRect">
            <a:avLst/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华北地区,  统计,  销售总额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0661C346-0713-131D-D662-E5B2094CB84D}"/>
              </a:ext>
            </a:extLst>
          </p:cNvPr>
          <p:cNvSpPr/>
          <p:nvPr/>
        </p:nvSpPr>
        <p:spPr>
          <a:xfrm>
            <a:off x="6588224" y="3882425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438273C-C821-65C3-4494-A3BBC813C9E3}"/>
              </a:ext>
            </a:extLst>
          </p:cNvPr>
          <p:cNvSpPr txBox="1"/>
          <p:nvPr/>
        </p:nvSpPr>
        <p:spPr>
          <a:xfrm>
            <a:off x="4932040" y="4659982"/>
            <a:ext cx="3960440" cy="374571"/>
          </a:xfrm>
          <a:prstGeom prst="roundRect">
            <a:avLst/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华北地区,  统计,  销售总额</a:t>
            </a:r>
            <a:r>
              <a:rPr lang="en-US" altLang="zh-CN"/>
              <a:t>,</a:t>
            </a:r>
            <a:r>
              <a:rPr lang="zh-CN" altLang="en-US"/>
              <a:t>帮我统计一下华北地区的销售总额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4CA3B0EB-F9C8-ED0C-35F6-DE89A9307457}"/>
              </a:ext>
            </a:extLst>
          </p:cNvPr>
          <p:cNvSpPr/>
          <p:nvPr/>
        </p:nvSpPr>
        <p:spPr>
          <a:xfrm>
            <a:off x="6588224" y="4602505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345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 animBg="1"/>
      <p:bldP spid="18" grpId="0" animBg="1"/>
      <p:bldP spid="19" grpId="0" animBg="1"/>
      <p:bldP spid="24" grpId="0" animBg="1"/>
      <p:bldP spid="25" grpId="0" animBg="1"/>
      <p:bldP spid="27" grpId="0"/>
      <p:bldP spid="30" grpId="0" animBg="1"/>
      <p:bldP spid="37" grpId="0" animBg="1"/>
      <p:bldP spid="50" grpId="0" animBg="1"/>
      <p:bldP spid="52" grpId="0" animBg="1"/>
      <p:bldP spid="55" grpId="0" animBg="1"/>
      <p:bldP spid="57" grpId="0" animBg="1"/>
      <p:bldP spid="59" grpId="0" animBg="1"/>
      <p:bldP spid="6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2A18F-62DC-CB66-1C04-D43DA4194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5330705-516B-E50F-6495-064E0B07B723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E7DC67A-A13C-DBB8-8F29-F69F65AD0E69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7B705362-3AC8-AC38-496C-07FDF9C69FBC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8537164-9109-F423-6707-24770E2CFE67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3992C51-86FE-16B8-EEF9-A26B25FC0522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39C6736-032B-1F1A-D946-9DB4C70CECAB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36DC2B7-E937-FC35-F2DC-B6B6641F5F10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054D5EF-47E0-6B23-6A81-C1E9ABDBAC22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43DD015-FE1E-BF91-C66F-19D363FB076E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51B2CA-F99F-500F-84C1-4CBB6618FD37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8FCFEA1-444F-1531-C170-A6434747951B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0B6BC33-2D79-2E11-DE9C-2F574A289496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984282E-DA9A-EA02-DD69-572ED3B189F7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B876D0BF-58ED-A1A8-F277-A4235DFAA514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9981E97B-E202-BEEF-BE30-813B7FD8BAFD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E098B8CB-8F76-E72A-00F4-EB1A7E1B05BA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F0760D5-04FD-88DB-B14A-A506CAF6A414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2AF2ED2B-0391-7DAD-3E92-649C12A99186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6B3011E5-B19A-17DE-1B55-AA931FB7A897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3D16692F-BD28-B537-E9F9-193B2FC448CA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891FCA89-7A20-9ACA-4F99-B070BEC06DA1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21DBF874-BE94-6E67-2695-C388499207C5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804C7ED1-905D-4515-9C9D-255A196EEBB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227CD459-ADDD-CB7E-1B90-8A651EB051B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16D20AEC-7930-143E-D765-BCD99AF53EF3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D9EFE84E-EAAD-1614-DFA4-41B23DDA4EC5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A5DC1527-B6E6-972E-8BDA-605A6FF63664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9D84FF0-721C-7FF3-C3C5-9F348DD5D5DA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F57B5B05-2A90-D701-0F6B-5C38A8D85CD7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C70C954-575D-9CCF-0287-B77EE8EA709A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C438F1-CCCB-2590-D36D-40AC4A602724}"/>
              </a:ext>
            </a:extLst>
          </p:cNvPr>
          <p:cNvSpPr txBox="1"/>
          <p:nvPr/>
        </p:nvSpPr>
        <p:spPr>
          <a:xfrm>
            <a:off x="4860032" y="915566"/>
            <a:ext cx="41044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以关键词作为查询条件，在向量数据库中召回相关的字段信息。为提升召回率，会先通过 </a:t>
            </a:r>
            <a:r>
              <a:rPr lang="en-US" altLang="zh-CN" sz="1100"/>
              <a:t>LLM </a:t>
            </a:r>
            <a:r>
              <a:rPr lang="zh-CN" altLang="en-US" sz="1100"/>
              <a:t>以召回字段信息为目标扩展和补充关键词，再进行检索。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BE9091E-F5F8-EF9B-231F-F14E1B1AB7F3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66F6F2E-1889-7614-B185-2568280F9E75}"/>
              </a:ext>
            </a:extLst>
          </p:cNvPr>
          <p:cNvSpPr/>
          <p:nvPr/>
        </p:nvSpPr>
        <p:spPr>
          <a:xfrm>
            <a:off x="4932040" y="1563638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14F0B6-3196-2D80-3F5D-6CCB83C2B4EC}"/>
              </a:ext>
            </a:extLst>
          </p:cNvPr>
          <p:cNvSpPr txBox="1"/>
          <p:nvPr/>
        </p:nvSpPr>
        <p:spPr>
          <a:xfrm>
            <a:off x="4932040" y="2759442"/>
            <a:ext cx="3960440" cy="532388"/>
          </a:xfrm>
          <a:prstGeom prst="roundRect">
            <a:avLst>
              <a:gd name="adj" fmla="val 8010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>
              <a:solidFill>
                <a:srgbClr val="FF9704"/>
              </a:solidFill>
            </a:endParaRPr>
          </a:p>
          <a:p>
            <a:r>
              <a:rPr lang="zh-CN" altLang="en-US">
                <a:solidFill>
                  <a:srgbClr val="FF9704"/>
                </a:solidFill>
              </a:rPr>
              <a:t>地区</a:t>
            </a:r>
            <a:r>
              <a:rPr lang="en-US" altLang="zh-CN"/>
              <a:t>,  </a:t>
            </a:r>
            <a:r>
              <a:rPr lang="zh-CN" altLang="en-US">
                <a:solidFill>
                  <a:srgbClr val="FF9704"/>
                </a:solidFill>
              </a:rPr>
              <a:t>销售金额</a:t>
            </a:r>
            <a:r>
              <a:rPr lang="en-US" altLang="zh-CN"/>
              <a:t>,  </a:t>
            </a:r>
            <a:r>
              <a:rPr lang="zh-CN" altLang="en-US"/>
              <a:t>统计</a:t>
            </a:r>
            <a:r>
              <a:rPr lang="en-US" altLang="zh-CN"/>
              <a:t>, </a:t>
            </a:r>
            <a:r>
              <a:rPr lang="zh-CN" altLang="en-US"/>
              <a:t>华北地区</a:t>
            </a:r>
            <a:r>
              <a:rPr lang="en-US" altLang="zh-CN"/>
              <a:t>,  </a:t>
            </a:r>
            <a:r>
              <a:rPr lang="zh-CN" altLang="en-US"/>
              <a:t>销售总额</a:t>
            </a:r>
            <a:r>
              <a:rPr lang="en-US" altLang="zh-CN"/>
              <a:t>,  </a:t>
            </a:r>
            <a:r>
              <a:rPr lang="zh-CN" altLang="en-US"/>
              <a:t>帮我统计一下华北地区的销售总额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BC82F86-30B6-7D8C-9633-E3364F9F98D1}"/>
              </a:ext>
            </a:extLst>
          </p:cNvPr>
          <p:cNvSpPr/>
          <p:nvPr/>
        </p:nvSpPr>
        <p:spPr>
          <a:xfrm>
            <a:off x="6948264" y="2405638"/>
            <a:ext cx="50405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b="1"/>
              <a:t>LLM</a:t>
            </a:r>
            <a:r>
              <a:rPr lang="zh-CN" altLang="en-US" sz="800" b="1"/>
              <a:t>扩展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95A070EA-C18F-D229-BDD3-B00ED98D0D39}"/>
              </a:ext>
            </a:extLst>
          </p:cNvPr>
          <p:cNvCxnSpPr>
            <a:cxnSpLocks/>
            <a:stCxn id="26" idx="2"/>
            <a:endCxn id="63" idx="0"/>
          </p:cNvCxnSpPr>
          <p:nvPr/>
        </p:nvCxnSpPr>
        <p:spPr>
          <a:xfrm>
            <a:off x="6912260" y="2298249"/>
            <a:ext cx="0" cy="389185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1EFFD101-1839-B66F-87BB-321D2C0492F0}"/>
              </a:ext>
            </a:extLst>
          </p:cNvPr>
          <p:cNvSpPr txBox="1"/>
          <p:nvPr/>
        </p:nvSpPr>
        <p:spPr>
          <a:xfrm>
            <a:off x="4932040" y="1923678"/>
            <a:ext cx="3960440" cy="374571"/>
          </a:xfrm>
          <a:prstGeom prst="roundRect">
            <a:avLst/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华北地区,  统计,  销售总额</a:t>
            </a:r>
            <a:r>
              <a:rPr lang="en-US" altLang="zh-CN"/>
              <a:t>,  </a:t>
            </a:r>
            <a:r>
              <a:rPr lang="zh-CN" altLang="en-US"/>
              <a:t>帮我统计一下华北地区的销售总额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9F49214-9373-1D70-039E-E65645C71F3B}"/>
              </a:ext>
            </a:extLst>
          </p:cNvPr>
          <p:cNvSpPr txBox="1"/>
          <p:nvPr/>
        </p:nvSpPr>
        <p:spPr>
          <a:xfrm>
            <a:off x="6084168" y="3725416"/>
            <a:ext cx="1656184" cy="1054953"/>
          </a:xfrm>
          <a:prstGeom prst="roundRect">
            <a:avLst>
              <a:gd name="adj" fmla="val 6856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endParaRPr lang="en-US" altLang="zh-CN"/>
          </a:p>
          <a:p>
            <a:pPr algn="l"/>
            <a:r>
              <a:rPr lang="zh-CN" altLang="en-US"/>
              <a:t>dim_region.region_name,  </a:t>
            </a:r>
            <a:endParaRPr lang="en-US" altLang="zh-CN"/>
          </a:p>
          <a:p>
            <a:pPr algn="l"/>
            <a:r>
              <a:rPr lang="zh-CN" altLang="en-US"/>
              <a:t>dim_region.province, </a:t>
            </a:r>
            <a:endParaRPr lang="en-US" altLang="zh-CN"/>
          </a:p>
          <a:p>
            <a:pPr algn="l"/>
            <a:r>
              <a:rPr lang="zh-CN" altLang="en-US"/>
              <a:t>dim_region.country,  </a:t>
            </a:r>
            <a:endParaRPr lang="en-US" altLang="zh-CN"/>
          </a:p>
          <a:p>
            <a:pPr algn="l"/>
            <a:r>
              <a:rPr lang="zh-CN" altLang="en-US"/>
              <a:t>fact_order.order_quantity,  fact_order.order_amount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5A4FB09-A30A-4BF1-53A7-AC167C74CAF7}"/>
              </a:ext>
            </a:extLst>
          </p:cNvPr>
          <p:cNvCxnSpPr>
            <a:cxnSpLocks/>
            <a:stCxn id="21" idx="2"/>
            <a:endCxn id="51" idx="0"/>
          </p:cNvCxnSpPr>
          <p:nvPr/>
        </p:nvCxnSpPr>
        <p:spPr>
          <a:xfrm>
            <a:off x="6912260" y="3291830"/>
            <a:ext cx="0" cy="360040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C6521B9-69E7-5F36-EE67-DE05D38F9592}"/>
              </a:ext>
            </a:extLst>
          </p:cNvPr>
          <p:cNvSpPr/>
          <p:nvPr/>
        </p:nvSpPr>
        <p:spPr>
          <a:xfrm>
            <a:off x="6948264" y="3363838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/>
              <a:t>字段信息召回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9312DC39-7E40-66FF-8D49-B5BB56687BA7}"/>
              </a:ext>
            </a:extLst>
          </p:cNvPr>
          <p:cNvSpPr/>
          <p:nvPr/>
        </p:nvSpPr>
        <p:spPr>
          <a:xfrm>
            <a:off x="6444208" y="3651870"/>
            <a:ext cx="936104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column_infos</a:t>
            </a:r>
            <a:endParaRPr lang="zh-CN" altLang="en-US" sz="1000" b="1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5D10652B-1684-BC2C-7D1B-FE3397C86211}"/>
              </a:ext>
            </a:extLst>
          </p:cNvPr>
          <p:cNvSpPr/>
          <p:nvPr/>
        </p:nvSpPr>
        <p:spPr>
          <a:xfrm>
            <a:off x="6588224" y="1851670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E50C639A-F168-6329-73E9-BD6F97434893}"/>
              </a:ext>
            </a:extLst>
          </p:cNvPr>
          <p:cNvSpPr/>
          <p:nvPr/>
        </p:nvSpPr>
        <p:spPr>
          <a:xfrm>
            <a:off x="6588224" y="2687434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048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21" grpId="0" animBg="1"/>
      <p:bldP spid="22" grpId="0" animBg="1"/>
      <p:bldP spid="26" grpId="0" animBg="1"/>
      <p:bldP spid="30" grpId="0" animBg="1"/>
      <p:bldP spid="37" grpId="0" animBg="1"/>
      <p:bldP spid="51" grpId="0" animBg="1"/>
      <p:bldP spid="62" grpId="0" animBg="1"/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8680-50C7-4FC8-3AE9-706838779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08701B4-9738-5B8D-2368-04DC15592E7F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210B3F9-365D-0E11-83C0-B8878A4D1907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B07D8FD-4A2B-BC63-D0C3-4A6432B0E645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17BD2F8-5DAE-97C8-698A-207D104DCD69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FE3B3F0-5BD4-5D89-1000-DAA412A788A8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5E02E37-7943-55F4-7B15-8FCF04CFB1D4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2F76623-0B34-696A-557C-F10B95CD43C9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B215D8D-1218-B217-B949-8285BF0CC224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A1BA19D-8BAA-5C71-3E55-BD9B66401D87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FB6C389-EE6E-952C-3281-9FB4222EA4EE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F21F018-8FE3-188F-1F43-79D4F80F3CF4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87FD95A-FA72-D1DE-511B-10750753FBEA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DB68519-8217-F3CC-78C2-A995C9C5063E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A6826D0D-48A3-A5E3-10FB-F98156883668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7BE1266B-1130-9F5A-7C7F-4EF2E1CAB268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F7A6134-5A6A-7C7E-2E1A-9651C27997C0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9BDF219E-04B5-BB38-F987-36B0F1C09386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5C374143-3BBF-BC1E-5658-30F64474CB0A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569FD27A-01FF-263B-D6A4-AB70D27DC471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980CBA11-C1F0-65FB-CE6D-20E295FF522A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66711D17-6AE8-3C6D-FB5E-FB7DB19CDD27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C804D2D8-A547-5814-EC08-EF2C01AD7E25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D6302CF1-8BD9-D236-A6C5-41FB77A16826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3F45026B-4784-A787-E864-9EE59DD7DCB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A33A6FA0-8A10-AD1B-6EB8-6C542DA4D2BE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BFAD08C0-D673-75EE-F16B-07B2FC50ED39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A8E8ADC8-2DAC-8657-AED4-81B860553F62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96B226A0-F74A-8AFB-C9BB-3B2A0C8458F1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7475B2E3-C4B7-DB67-6497-179CDF2DF83C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7CBB9250-3D82-D6D9-58EB-C09FA178EF08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FABD86-7A42-6106-331A-09A268818E69}"/>
              </a:ext>
            </a:extLst>
          </p:cNvPr>
          <p:cNvSpPr txBox="1"/>
          <p:nvPr/>
        </p:nvSpPr>
        <p:spPr>
          <a:xfrm>
            <a:off x="4860032" y="915566"/>
            <a:ext cx="41044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以关键词作为查询条件，在向量数据库中召回相关的指标信息。为提升召回率，会先通过 </a:t>
            </a:r>
            <a:r>
              <a:rPr lang="en-US" altLang="zh-CN" sz="1100"/>
              <a:t>LLM </a:t>
            </a:r>
            <a:r>
              <a:rPr lang="zh-CN" altLang="en-US" sz="1100"/>
              <a:t>以召回指标信息为目标扩展和补充关键词，再进行检索。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24EF57A-9303-A544-6E4A-BF911FC46E15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B33523C-29BD-9D65-F10B-9EFA49A03116}"/>
              </a:ext>
            </a:extLst>
          </p:cNvPr>
          <p:cNvSpPr/>
          <p:nvPr/>
        </p:nvSpPr>
        <p:spPr>
          <a:xfrm>
            <a:off x="4932040" y="1563638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4BA253-AD19-C709-A22F-80767B47C33F}"/>
              </a:ext>
            </a:extLst>
          </p:cNvPr>
          <p:cNvSpPr txBox="1"/>
          <p:nvPr/>
        </p:nvSpPr>
        <p:spPr>
          <a:xfrm>
            <a:off x="6300192" y="3716010"/>
            <a:ext cx="1224136" cy="372581"/>
          </a:xfrm>
          <a:prstGeom prst="roundRect">
            <a:avLst>
              <a:gd name="adj" fmla="val 12526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72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endParaRPr lang="en-US" altLang="zh-CN"/>
          </a:p>
          <a:p>
            <a:r>
              <a:rPr lang="en-US" altLang="zh-CN"/>
              <a:t>GMV,</a:t>
            </a:r>
            <a:r>
              <a:rPr lang="zh-CN" altLang="en-US"/>
              <a:t>  </a:t>
            </a:r>
            <a:r>
              <a:rPr lang="en-US" altLang="zh-CN"/>
              <a:t>AOV</a:t>
            </a:r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CA7ADBA-BBF7-4EB6-8E5F-88AC2D2071B1}"/>
              </a:ext>
            </a:extLst>
          </p:cNvPr>
          <p:cNvSpPr/>
          <p:nvPr/>
        </p:nvSpPr>
        <p:spPr>
          <a:xfrm>
            <a:off x="6444208" y="3642464"/>
            <a:ext cx="936104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metric_infos</a:t>
            </a:r>
            <a:endParaRPr lang="zh-CN" altLang="en-US" sz="1000" b="1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1251827-F9D7-C7AC-BD86-7CB02857650D}"/>
              </a:ext>
            </a:extLst>
          </p:cNvPr>
          <p:cNvSpPr txBox="1"/>
          <p:nvPr/>
        </p:nvSpPr>
        <p:spPr>
          <a:xfrm>
            <a:off x="4932040" y="2759442"/>
            <a:ext cx="3960440" cy="532388"/>
          </a:xfrm>
          <a:prstGeom prst="roundRect">
            <a:avLst>
              <a:gd name="adj" fmla="val 8010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>
              <a:solidFill>
                <a:srgbClr val="FF9704"/>
              </a:solidFill>
            </a:endParaRPr>
          </a:p>
          <a:p>
            <a:r>
              <a:rPr lang="en-US" altLang="zh-CN">
                <a:solidFill>
                  <a:srgbClr val="FF9704"/>
                </a:solidFill>
              </a:rPr>
              <a:t>GMV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chemeClr val="tx1"/>
                </a:solidFill>
              </a:rPr>
              <a:t>统计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rgbClr val="FF9704"/>
                </a:solidFill>
              </a:rPr>
              <a:t>销售收入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chemeClr val="tx1"/>
                </a:solidFill>
              </a:rPr>
              <a:t>华北地区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rgbClr val="FF9704"/>
                </a:solidFill>
              </a:rPr>
              <a:t>营业额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rgbClr val="FF9704"/>
                </a:solidFill>
              </a:rPr>
              <a:t>销售额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chemeClr val="tx1"/>
                </a:solidFill>
              </a:rPr>
              <a:t>帮我统计一下华北地区的销售总额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chemeClr val="tx1"/>
                </a:solidFill>
              </a:rPr>
              <a:t>销售总额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rgbClr val="FF9704"/>
                </a:solidFill>
              </a:rPr>
              <a:t>交易额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FC660CCE-43AA-F259-F498-81FCA981B5C9}"/>
              </a:ext>
            </a:extLst>
          </p:cNvPr>
          <p:cNvSpPr/>
          <p:nvPr/>
        </p:nvSpPr>
        <p:spPr>
          <a:xfrm>
            <a:off x="6948264" y="2405638"/>
            <a:ext cx="50405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b="1"/>
              <a:t>LLM</a:t>
            </a:r>
            <a:r>
              <a:rPr lang="zh-CN" altLang="en-US" sz="800" b="1"/>
              <a:t>扩展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BEC20D83-2B64-C415-BA24-FFD6EF3D5EAA}"/>
              </a:ext>
            </a:extLst>
          </p:cNvPr>
          <p:cNvCxnSpPr>
            <a:cxnSpLocks/>
            <a:stCxn id="48" idx="2"/>
            <a:endCxn id="52" idx="0"/>
          </p:cNvCxnSpPr>
          <p:nvPr/>
        </p:nvCxnSpPr>
        <p:spPr>
          <a:xfrm>
            <a:off x="6912260" y="2298249"/>
            <a:ext cx="0" cy="389185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28995ED0-EB25-6FC3-EEBD-33D5BC0AC869}"/>
              </a:ext>
            </a:extLst>
          </p:cNvPr>
          <p:cNvSpPr txBox="1"/>
          <p:nvPr/>
        </p:nvSpPr>
        <p:spPr>
          <a:xfrm>
            <a:off x="4932040" y="1923678"/>
            <a:ext cx="3960440" cy="374571"/>
          </a:xfrm>
          <a:prstGeom prst="roundRect">
            <a:avLst/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华北地区,  统计,  销售总额</a:t>
            </a:r>
            <a:r>
              <a:rPr lang="en-US" altLang="zh-CN"/>
              <a:t>,  </a:t>
            </a:r>
            <a:r>
              <a:rPr lang="zh-CN" altLang="en-US"/>
              <a:t>帮我统计一下华北地区的销售总额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652F154-BFF5-AD9E-697E-5A91A0F5CF19}"/>
              </a:ext>
            </a:extLst>
          </p:cNvPr>
          <p:cNvCxnSpPr>
            <a:cxnSpLocks/>
            <a:stCxn id="45" idx="2"/>
            <a:endCxn id="38" idx="0"/>
          </p:cNvCxnSpPr>
          <p:nvPr/>
        </p:nvCxnSpPr>
        <p:spPr>
          <a:xfrm>
            <a:off x="6912260" y="3291830"/>
            <a:ext cx="0" cy="350634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15C0AD82-CD22-FD0A-EBA8-B6E03FF26D20}"/>
              </a:ext>
            </a:extLst>
          </p:cNvPr>
          <p:cNvSpPr/>
          <p:nvPr/>
        </p:nvSpPr>
        <p:spPr>
          <a:xfrm>
            <a:off x="6948264" y="3363838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/>
              <a:t>指标信息召回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43EC39E-9319-8F6C-2D73-5B9402495790}"/>
              </a:ext>
            </a:extLst>
          </p:cNvPr>
          <p:cNvSpPr/>
          <p:nvPr/>
        </p:nvSpPr>
        <p:spPr>
          <a:xfrm>
            <a:off x="6588224" y="1851670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477597F8-47AD-C9D6-8FA6-A82BC01E6D9D}"/>
              </a:ext>
            </a:extLst>
          </p:cNvPr>
          <p:cNvSpPr/>
          <p:nvPr/>
        </p:nvSpPr>
        <p:spPr>
          <a:xfrm>
            <a:off x="6588224" y="2687434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1352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22" grpId="0" animBg="1"/>
      <p:bldP spid="38" grpId="0" animBg="1"/>
      <p:bldP spid="45" grpId="0" animBg="1"/>
      <p:bldP spid="46" grpId="0" animBg="1"/>
      <p:bldP spid="48" grpId="0" animBg="1"/>
      <p:bldP spid="50" grpId="0" animBg="1"/>
      <p:bldP spid="51" grpId="0" animBg="1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67E5-422B-67D0-EC83-AEB5F111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23776B26-D22C-85A3-250F-C1C1429FCDA6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5867C6B-5BDC-F904-46EA-EBF40A946133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4BE5C21-4BE9-CEE2-8D66-1B9538D6EC5C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2B6C852-03A8-4907-4C3D-A8C24014FE3B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2F8085-8FEE-6D16-4325-B6E0098FB060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EFF69F4-358D-C0CD-69BA-EE071C5F6C56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46CAF26-EDCC-FB32-D384-0B7BA34D065C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39B0422-4659-E8E7-56CB-43566BC5BC12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08D789A-FD99-87CA-1CA8-0DB0A564BA39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B78C26B-BC4F-2A66-B4E6-16F54D9B2B53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2627111-DD07-A4E5-DF10-C79445ABCBE7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54CB09D-95C6-F4FB-B6E7-34449B74FEBF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AA744E2-25F0-AD4A-66B3-B11F643A5AC7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2571767C-6A14-0ACE-D3C4-480198B78691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DD006127-407A-0A0A-1FBD-1C569ED32AB8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DADEB92-BB11-BBD7-5B74-D7C76FB846F8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1F8044C3-D189-8F32-3A35-3EE29DD5C0F2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E1E6A6C3-E2BA-5705-8C5C-5D2487ABE325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AA03B29F-3C0C-A251-2C2C-41EE2CB61FD8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24447355-BDD0-568B-4CBC-EC776EE34999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02738DDE-E14F-4A9C-E8F7-897E6625B748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645428C3-ACF9-674A-EDE3-B91E6ABA96F9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5C78A442-ED6E-B329-4243-3EE30AAC37C3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4542F687-600C-3581-E9C4-9C6C1AA3D10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1466790A-909B-E2E3-B21D-AB1FA61335AE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6308C50A-AF22-91FA-9072-BC3C86F573FD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0CD182E4-5DF6-AEF2-B50D-193895EE95BB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8F806DB4-ECD0-26C3-97B4-C40BF4A0C62D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7ECAADA4-55BC-3788-7449-BEE8F01FFA8E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FB89BBD-94AD-CAAA-E7CD-4772A27F0F09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8543362-EED9-6BF5-17F1-02A5E46906FB}"/>
              </a:ext>
            </a:extLst>
          </p:cNvPr>
          <p:cNvSpPr txBox="1"/>
          <p:nvPr/>
        </p:nvSpPr>
        <p:spPr>
          <a:xfrm>
            <a:off x="4860032" y="915566"/>
            <a:ext cx="41044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以关键词作为查询条件，在全文搜索引擎中召回相关的字段取值。为提升召回率，会先通过 </a:t>
            </a:r>
            <a:r>
              <a:rPr lang="en-US" altLang="zh-CN" sz="1100"/>
              <a:t>LLM </a:t>
            </a:r>
            <a:r>
              <a:rPr lang="zh-CN" altLang="en-US" sz="1100"/>
              <a:t>以召回字段取值为目标扩展和补充关键词，再进行检索。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FFADEBB-7B9E-DC36-1737-8215161B6AB5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4447EAA-BF11-43B0-FAB9-75F33B8154C8}"/>
              </a:ext>
            </a:extLst>
          </p:cNvPr>
          <p:cNvSpPr/>
          <p:nvPr/>
        </p:nvSpPr>
        <p:spPr>
          <a:xfrm>
            <a:off x="4932040" y="1563638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7B5A2C-240A-A731-6BBC-E0E6F0F38D63}"/>
              </a:ext>
            </a:extLst>
          </p:cNvPr>
          <p:cNvSpPr txBox="1"/>
          <p:nvPr/>
        </p:nvSpPr>
        <p:spPr>
          <a:xfrm>
            <a:off x="5940152" y="3748782"/>
            <a:ext cx="1944216" cy="401580"/>
          </a:xfrm>
          <a:prstGeom prst="roundRect">
            <a:avLst>
              <a:gd name="adj" fmla="val 19901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en-US" altLang="zh-CN"/>
              <a:t>dim_region.region_name.</a:t>
            </a:r>
            <a:r>
              <a:rPr lang="zh-CN" altLang="en-US"/>
              <a:t>华北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5DEDE02-88A2-F0F3-70A7-E541072165F8}"/>
              </a:ext>
            </a:extLst>
          </p:cNvPr>
          <p:cNvCxnSpPr>
            <a:cxnSpLocks/>
            <a:stCxn id="43" idx="2"/>
            <a:endCxn id="39" idx="0"/>
          </p:cNvCxnSpPr>
          <p:nvPr/>
        </p:nvCxnSpPr>
        <p:spPr>
          <a:xfrm>
            <a:off x="6912260" y="3291830"/>
            <a:ext cx="0" cy="383406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2975A016-2EED-4243-D2B4-6205D7E154FB}"/>
              </a:ext>
            </a:extLst>
          </p:cNvPr>
          <p:cNvSpPr/>
          <p:nvPr/>
        </p:nvSpPr>
        <p:spPr>
          <a:xfrm>
            <a:off x="6444208" y="3675236"/>
            <a:ext cx="936104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column_values</a:t>
            </a:r>
            <a:endParaRPr lang="zh-CN" altLang="en-US" sz="1000" b="1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B7B8F22-B046-F6C1-D5E5-F6D7D64CB235}"/>
              </a:ext>
            </a:extLst>
          </p:cNvPr>
          <p:cNvSpPr txBox="1"/>
          <p:nvPr/>
        </p:nvSpPr>
        <p:spPr>
          <a:xfrm>
            <a:off x="4932040" y="2759442"/>
            <a:ext cx="3960440" cy="532388"/>
          </a:xfrm>
          <a:prstGeom prst="roundRect">
            <a:avLst>
              <a:gd name="adj" fmla="val 8010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>
              <a:solidFill>
                <a:srgbClr val="FF9704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统计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rgbClr val="FF9704"/>
                </a:solidFill>
              </a:rPr>
              <a:t>华北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chemeClr val="tx1"/>
                </a:solidFill>
              </a:rPr>
              <a:t>华北地区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chemeClr val="tx1"/>
                </a:solidFill>
              </a:rPr>
              <a:t>帮我统计一下华北地区的销售总额</a:t>
            </a:r>
            <a:r>
              <a:rPr lang="en-US" altLang="zh-CN">
                <a:solidFill>
                  <a:schemeClr val="tx1"/>
                </a:solidFill>
              </a:rPr>
              <a:t>,  </a:t>
            </a:r>
            <a:r>
              <a:rPr lang="zh-CN" altLang="en-US">
                <a:solidFill>
                  <a:schemeClr val="tx1"/>
                </a:solidFill>
              </a:rPr>
              <a:t>销售总额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8433F91-C3BE-6274-2885-04B3BCF89D28}"/>
              </a:ext>
            </a:extLst>
          </p:cNvPr>
          <p:cNvSpPr/>
          <p:nvPr/>
        </p:nvSpPr>
        <p:spPr>
          <a:xfrm>
            <a:off x="6948264" y="2405638"/>
            <a:ext cx="50405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b="1"/>
              <a:t>LLM</a:t>
            </a:r>
            <a:r>
              <a:rPr lang="zh-CN" altLang="en-US" sz="800" b="1"/>
              <a:t>扩展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E74D728E-D0ED-3F7E-EEAC-33F4FF331D17}"/>
              </a:ext>
            </a:extLst>
          </p:cNvPr>
          <p:cNvCxnSpPr>
            <a:cxnSpLocks/>
            <a:stCxn id="46" idx="2"/>
            <a:endCxn id="48" idx="0"/>
          </p:cNvCxnSpPr>
          <p:nvPr/>
        </p:nvCxnSpPr>
        <p:spPr>
          <a:xfrm>
            <a:off x="6912260" y="2298249"/>
            <a:ext cx="0" cy="389185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80FE7D67-D056-384E-8DBF-659863D14BAE}"/>
              </a:ext>
            </a:extLst>
          </p:cNvPr>
          <p:cNvSpPr txBox="1"/>
          <p:nvPr/>
        </p:nvSpPr>
        <p:spPr>
          <a:xfrm>
            <a:off x="4932040" y="1923678"/>
            <a:ext cx="3960440" cy="374571"/>
          </a:xfrm>
          <a:prstGeom prst="roundRect">
            <a:avLst/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华北地区,  统计,  销售总额</a:t>
            </a:r>
            <a:r>
              <a:rPr lang="en-US" altLang="zh-CN"/>
              <a:t>,  </a:t>
            </a:r>
            <a:r>
              <a:rPr lang="zh-CN" altLang="en-US"/>
              <a:t>帮我统计一下华北地区的销售总额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C4B85FC1-79F9-6D4F-2A64-35BB99B69EEC}"/>
              </a:ext>
            </a:extLst>
          </p:cNvPr>
          <p:cNvSpPr/>
          <p:nvPr/>
        </p:nvSpPr>
        <p:spPr>
          <a:xfrm>
            <a:off x="6588224" y="1851670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500E85BF-16E4-6E74-CFBB-A36C14BB4BC9}"/>
              </a:ext>
            </a:extLst>
          </p:cNvPr>
          <p:cNvSpPr/>
          <p:nvPr/>
        </p:nvSpPr>
        <p:spPr>
          <a:xfrm>
            <a:off x="6588224" y="2687434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keywords</a:t>
            </a:r>
            <a:endParaRPr lang="zh-CN" altLang="en-US" sz="1000" b="1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00736D3D-82B9-E2E1-0EAA-DD9D134FE2D3}"/>
              </a:ext>
            </a:extLst>
          </p:cNvPr>
          <p:cNvSpPr/>
          <p:nvPr/>
        </p:nvSpPr>
        <p:spPr>
          <a:xfrm>
            <a:off x="6948264" y="3435846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/>
              <a:t>字段取值召回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19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22" grpId="0" animBg="1"/>
      <p:bldP spid="39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5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ADB78-F6BA-ED6B-5B95-6B191FC64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矩形 239">
            <a:extLst>
              <a:ext uri="{FF2B5EF4-FFF2-40B4-BE49-F238E27FC236}">
                <a16:creationId xmlns:a16="http://schemas.microsoft.com/office/drawing/2014/main" id="{82ED7363-17C6-EF21-3AF6-DFE93859139E}"/>
              </a:ext>
            </a:extLst>
          </p:cNvPr>
          <p:cNvSpPr/>
          <p:nvPr/>
        </p:nvSpPr>
        <p:spPr>
          <a:xfrm>
            <a:off x="8316416" y="2067694"/>
            <a:ext cx="144016" cy="2160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EB1532EF-4746-E6ED-2D1D-738F23B1DEC0}"/>
              </a:ext>
            </a:extLst>
          </p:cNvPr>
          <p:cNvSpPr/>
          <p:nvPr/>
        </p:nvSpPr>
        <p:spPr>
          <a:xfrm>
            <a:off x="8460432" y="2067694"/>
            <a:ext cx="144016" cy="21602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B89288-7DC6-F7DC-1085-C4B9CE72503A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D260D3B-AF0A-82DC-13B8-85BCF00D0B44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B50BC62-96BA-B9EA-AB91-2BAD92C3CA5C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3D6C424-A57F-56A4-927D-714CBFC78FAE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04336E3-E6F6-262E-8A52-9501E46D6470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08F75B8-47E7-8229-EF6C-E8F4E804350F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950CD74-E4D9-0B4A-5BE3-48E3EA0E3E36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4191CE0-BB9C-27D5-3878-266E3FA5308B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F854A4B-42CA-30BC-A0B2-D900E19A6CA7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2E4CA2-BF42-7A8C-98A1-C47834834EDB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4710A2E-66BE-14B1-2F25-BC3C96E253BE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905A3E5-9B86-57DE-651F-59D6CC6D68EB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CA46847-4D7F-E7C0-4F05-B1CAB0524AE9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5FCE97FB-3DED-AD2C-669F-90F04A8E76B0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377311EE-5F9F-9A75-9045-7B007D45FD8C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80E800A8-C1D6-87E9-59C0-340664CED553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28221AD-623F-086A-3F1C-716A50FBC621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585F08F6-D94E-DB09-DAB8-819F2775810D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2BE6A338-DB0C-1956-46F6-DDDEEC2F7495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59EFC7BD-01A7-44D4-EB49-24C905CB86E3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3878CAB3-A14A-FDBF-8050-6F0703165540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6003A30F-D2C9-45F4-E248-758698918F69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AF186DE1-7B6C-74BD-9A00-5C2E036EF24A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DACFB8EE-B1A9-14E4-A7E8-D18B48781E4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BBE9CFF-A54F-0E2F-9317-C27EABE405EA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4FA51587-5F20-BE39-4284-7710FE5F360E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0F316202-15A4-0459-773B-58E636843030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FE713038-7A90-F31E-B516-5C96E0AE86AE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7791A2E8-ACE9-E950-A9E0-AA987FC96731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914D449-1CE0-69FF-9A82-A5143B26C66A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09663B-1BAF-9FA2-B454-139FE1264A94}"/>
              </a:ext>
            </a:extLst>
          </p:cNvPr>
          <p:cNvSpPr txBox="1"/>
          <p:nvPr/>
        </p:nvSpPr>
        <p:spPr>
          <a:xfrm>
            <a:off x="4860032" y="915566"/>
            <a:ext cx="4104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将召回到的字段信息、字段取值和指标信息进行整合，作为后续生成 </a:t>
            </a:r>
            <a:r>
              <a:rPr lang="en-US" altLang="zh-CN" sz="1100"/>
              <a:t>SQL </a:t>
            </a:r>
            <a:r>
              <a:rPr lang="zh-CN" altLang="en-US" sz="1100"/>
              <a:t>的上下文依据。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6040D98-3C26-BDCC-BF88-39D336D8B33E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60B9D8B-4C04-3B8E-B9A6-C083BBF870A8}"/>
              </a:ext>
            </a:extLst>
          </p:cNvPr>
          <p:cNvSpPr/>
          <p:nvPr/>
        </p:nvSpPr>
        <p:spPr>
          <a:xfrm>
            <a:off x="4932040" y="1419622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C5877F-9FEE-A3C4-2AEA-B25930F8FC37}"/>
              </a:ext>
            </a:extLst>
          </p:cNvPr>
          <p:cNvSpPr txBox="1"/>
          <p:nvPr/>
        </p:nvSpPr>
        <p:spPr>
          <a:xfrm>
            <a:off x="4932040" y="1844551"/>
            <a:ext cx="1512168" cy="959048"/>
          </a:xfrm>
          <a:prstGeom prst="roundRect">
            <a:avLst>
              <a:gd name="adj" fmla="val 6856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endParaRPr lang="en-US" altLang="zh-CN" sz="1000"/>
          </a:p>
          <a:p>
            <a:pPr algn="l"/>
            <a:r>
              <a:rPr lang="zh-CN" altLang="en-US" sz="1000"/>
              <a:t>dim_region.region_name,  dim_region.province, dim_region.country,  fact_order.order_quantity,  fact_order.order_amount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F7619D-BB13-2524-D6AF-CC3C22EE8F66}"/>
              </a:ext>
            </a:extLst>
          </p:cNvPr>
          <p:cNvSpPr txBox="1"/>
          <p:nvPr/>
        </p:nvSpPr>
        <p:spPr>
          <a:xfrm>
            <a:off x="6516216" y="2436603"/>
            <a:ext cx="1728192" cy="351171"/>
          </a:xfrm>
          <a:prstGeom prst="roundRect">
            <a:avLst>
              <a:gd name="adj" fmla="val 1351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 sz="1000"/>
          </a:p>
          <a:p>
            <a:r>
              <a:rPr lang="en-US" altLang="zh-CN" sz="1000"/>
              <a:t>dim_region.region_name.</a:t>
            </a:r>
            <a:r>
              <a:rPr lang="zh-CN" altLang="en-US" sz="1000"/>
              <a:t>华北</a:t>
            </a:r>
          </a:p>
        </p:txBody>
      </p:sp>
      <p:sp>
        <p:nvSpPr>
          <p:cNvPr id="23" name="文本框 22">
            <a:hlinkClick r:id="rId3"/>
            <a:extLst>
              <a:ext uri="{FF2B5EF4-FFF2-40B4-BE49-F238E27FC236}">
                <a16:creationId xmlns:a16="http://schemas.microsoft.com/office/drawing/2014/main" id="{51225CCB-B405-85CD-3B42-887DA271FB1D}"/>
              </a:ext>
            </a:extLst>
          </p:cNvPr>
          <p:cNvSpPr txBox="1"/>
          <p:nvPr/>
        </p:nvSpPr>
        <p:spPr>
          <a:xfrm>
            <a:off x="4932041" y="3651870"/>
            <a:ext cx="3240360" cy="670502"/>
          </a:xfrm>
          <a:prstGeom prst="roundRect">
            <a:avLst>
              <a:gd name="adj" fmla="val 1003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endParaRPr lang="en-US" altLang="zh-CN" sz="1000" b="1">
              <a:solidFill>
                <a:srgbClr val="FF9704"/>
              </a:solidFill>
            </a:endParaRPr>
          </a:p>
          <a:p>
            <a:pPr algn="l"/>
            <a:r>
              <a:rPr lang="en-US" altLang="zh-CN" sz="1000" b="1">
                <a:solidFill>
                  <a:srgbClr val="FF9704"/>
                </a:solidFill>
              </a:rPr>
              <a:t>dim_region</a:t>
            </a:r>
            <a:r>
              <a:rPr lang="en-US" altLang="zh-CN" sz="1000"/>
              <a:t>(region_name, province, country, region_id)</a:t>
            </a:r>
          </a:p>
          <a:p>
            <a:pPr algn="l"/>
            <a:r>
              <a:rPr lang="en-US" altLang="zh-CN" sz="1000" b="1">
                <a:solidFill>
                  <a:srgbClr val="FF9704"/>
                </a:solidFill>
              </a:rPr>
              <a:t>fact_order</a:t>
            </a:r>
            <a:r>
              <a:rPr lang="en-US" altLang="zh-CN" sz="1000"/>
              <a:t>(order_quantity, order_amount, customer_id, date_id, order_id, product_id, region_id)</a:t>
            </a:r>
            <a:r>
              <a:rPr lang="zh-CN" altLang="en-US" sz="1000"/>
              <a:t>🔗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83FC5724-03A6-74B1-A953-510977ADE057}"/>
              </a:ext>
            </a:extLst>
          </p:cNvPr>
          <p:cNvSpPr/>
          <p:nvPr/>
        </p:nvSpPr>
        <p:spPr>
          <a:xfrm>
            <a:off x="5868144" y="3219822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/>
              <a:t>整合表格信息</a:t>
            </a:r>
          </a:p>
        </p:txBody>
      </p:sp>
      <p:sp>
        <p:nvSpPr>
          <p:cNvPr id="60" name="文本框 59">
            <a:hlinkClick r:id="rId4"/>
            <a:extLst>
              <a:ext uri="{FF2B5EF4-FFF2-40B4-BE49-F238E27FC236}">
                <a16:creationId xmlns:a16="http://schemas.microsoft.com/office/drawing/2014/main" id="{E50853C5-6931-2C1B-9D06-6EFCFD43F4FF}"/>
              </a:ext>
            </a:extLst>
          </p:cNvPr>
          <p:cNvSpPr txBox="1"/>
          <p:nvPr/>
        </p:nvSpPr>
        <p:spPr>
          <a:xfrm>
            <a:off x="8028384" y="4443958"/>
            <a:ext cx="1008112" cy="354323"/>
          </a:xfrm>
          <a:prstGeom prst="roundRect">
            <a:avLst>
              <a:gd name="adj" fmla="val 1429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 sz="1000"/>
          </a:p>
          <a:p>
            <a:r>
              <a:rPr lang="en-US" altLang="zh-CN" sz="1000"/>
              <a:t>GMV, AOV</a:t>
            </a:r>
            <a:r>
              <a:rPr lang="zh-CN" altLang="en-US" sz="1000"/>
              <a:t>🔗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B1DE6501-4E15-1449-B295-D08428E96E93}"/>
              </a:ext>
            </a:extLst>
          </p:cNvPr>
          <p:cNvSpPr/>
          <p:nvPr/>
        </p:nvSpPr>
        <p:spPr>
          <a:xfrm>
            <a:off x="7812360" y="3363838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/>
              <a:t>整合指标信息</a:t>
            </a:r>
          </a:p>
        </p:txBody>
      </p:sp>
      <p:cxnSp>
        <p:nvCxnSpPr>
          <p:cNvPr id="122" name="连接符: 肘形 121">
            <a:extLst>
              <a:ext uri="{FF2B5EF4-FFF2-40B4-BE49-F238E27FC236}">
                <a16:creationId xmlns:a16="http://schemas.microsoft.com/office/drawing/2014/main" id="{B10FAD9D-CEAD-2402-C7E0-8FB38F51C42C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rot="16200000" flipH="1">
            <a:off x="5696037" y="2795685"/>
            <a:ext cx="848271" cy="864097"/>
          </a:xfrm>
          <a:prstGeom prst="bentConnector3">
            <a:avLst>
              <a:gd name="adj1" fmla="val 32034"/>
            </a:avLst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23">
            <a:extLst>
              <a:ext uri="{FF2B5EF4-FFF2-40B4-BE49-F238E27FC236}">
                <a16:creationId xmlns:a16="http://schemas.microsoft.com/office/drawing/2014/main" id="{4E5EB3C5-6402-46E2-0B81-876D2826EBFE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 rot="5400000">
            <a:off x="6534219" y="2805777"/>
            <a:ext cx="864096" cy="828091"/>
          </a:xfrm>
          <a:prstGeom prst="bentConnector3">
            <a:avLst>
              <a:gd name="adj1" fmla="val 33489"/>
            </a:avLst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58">
            <a:extLst>
              <a:ext uri="{FF2B5EF4-FFF2-40B4-BE49-F238E27FC236}">
                <a16:creationId xmlns:a16="http://schemas.microsoft.com/office/drawing/2014/main" id="{50968574-3831-CB05-9D5B-85517330A5F7}"/>
              </a:ext>
            </a:extLst>
          </p:cNvPr>
          <p:cNvCxnSpPr>
            <a:cxnSpLocks/>
            <a:stCxn id="240" idx="2"/>
            <a:endCxn id="169" idx="0"/>
          </p:cNvCxnSpPr>
          <p:nvPr/>
        </p:nvCxnSpPr>
        <p:spPr>
          <a:xfrm rot="5400000">
            <a:off x="6822251" y="2013689"/>
            <a:ext cx="1296144" cy="1836203"/>
          </a:xfrm>
          <a:prstGeom prst="bentConnector3">
            <a:avLst>
              <a:gd name="adj1" fmla="val 61258"/>
            </a:avLst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B8944A9A-5F60-84B0-BCEB-8F15BAD8A0CB}"/>
              </a:ext>
            </a:extLst>
          </p:cNvPr>
          <p:cNvSpPr txBox="1"/>
          <p:nvPr/>
        </p:nvSpPr>
        <p:spPr>
          <a:xfrm>
            <a:off x="7956376" y="1938852"/>
            <a:ext cx="1008112" cy="344866"/>
          </a:xfrm>
          <a:prstGeom prst="roundRect">
            <a:avLst>
              <a:gd name="adj" fmla="val 9555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 sz="1000"/>
          </a:p>
          <a:p>
            <a:r>
              <a:rPr lang="en-US" altLang="zh-CN" sz="1000"/>
              <a:t>GMV,</a:t>
            </a:r>
            <a:r>
              <a:rPr lang="zh-CN" altLang="en-US" sz="1000"/>
              <a:t>  </a:t>
            </a:r>
            <a:r>
              <a:rPr lang="en-US" altLang="zh-CN" sz="1000"/>
              <a:t>AOV</a:t>
            </a:r>
            <a:endParaRPr lang="zh-CN" altLang="en-US" sz="1000"/>
          </a:p>
        </p:txBody>
      </p:sp>
      <p:sp>
        <p:nvSpPr>
          <p:cNvPr id="169" name="矩形: 圆角 168">
            <a:extLst>
              <a:ext uri="{FF2B5EF4-FFF2-40B4-BE49-F238E27FC236}">
                <a16:creationId xmlns:a16="http://schemas.microsoft.com/office/drawing/2014/main" id="{D0FAF4D3-AF05-61BF-84A1-6C975BFE52C0}"/>
              </a:ext>
            </a:extLst>
          </p:cNvPr>
          <p:cNvSpPr/>
          <p:nvPr/>
        </p:nvSpPr>
        <p:spPr>
          <a:xfrm>
            <a:off x="6156177" y="3579862"/>
            <a:ext cx="792088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table_infos</a:t>
            </a:r>
            <a:endParaRPr lang="zh-CN" altLang="en-US" sz="1000" b="1"/>
          </a:p>
        </p:txBody>
      </p:sp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06C1A1DA-0D19-AF45-481D-6A0DF9A26AB1}"/>
              </a:ext>
            </a:extLst>
          </p:cNvPr>
          <p:cNvSpPr/>
          <p:nvPr/>
        </p:nvSpPr>
        <p:spPr>
          <a:xfrm>
            <a:off x="5220072" y="1779662"/>
            <a:ext cx="936104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column_infos</a:t>
            </a:r>
            <a:endParaRPr lang="zh-CN" altLang="en-US" sz="1000" b="1"/>
          </a:p>
        </p:txBody>
      </p:sp>
      <p:sp>
        <p:nvSpPr>
          <p:cNvPr id="174" name="矩形: 圆角 173">
            <a:extLst>
              <a:ext uri="{FF2B5EF4-FFF2-40B4-BE49-F238E27FC236}">
                <a16:creationId xmlns:a16="http://schemas.microsoft.com/office/drawing/2014/main" id="{D982FF9B-9BE7-DC52-4F76-D0DE5CDD3F6B}"/>
              </a:ext>
            </a:extLst>
          </p:cNvPr>
          <p:cNvSpPr/>
          <p:nvPr/>
        </p:nvSpPr>
        <p:spPr>
          <a:xfrm>
            <a:off x="6865443" y="2355726"/>
            <a:ext cx="936104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column_values</a:t>
            </a:r>
            <a:endParaRPr lang="zh-CN" altLang="en-US" sz="1000" b="1"/>
          </a:p>
        </p:txBody>
      </p:sp>
      <p:sp>
        <p:nvSpPr>
          <p:cNvPr id="177" name="矩形: 圆角 176">
            <a:extLst>
              <a:ext uri="{FF2B5EF4-FFF2-40B4-BE49-F238E27FC236}">
                <a16:creationId xmlns:a16="http://schemas.microsoft.com/office/drawing/2014/main" id="{E7D60F5A-1794-7E56-6B67-20A8A35161AB}"/>
              </a:ext>
            </a:extLst>
          </p:cNvPr>
          <p:cNvSpPr/>
          <p:nvPr/>
        </p:nvSpPr>
        <p:spPr>
          <a:xfrm>
            <a:off x="8028384" y="1851670"/>
            <a:ext cx="86409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metric_infos</a:t>
            </a:r>
            <a:endParaRPr lang="zh-CN" altLang="en-US" sz="1000" b="1"/>
          </a:p>
        </p:txBody>
      </p: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5E8FDEE9-272B-BC19-7C4B-24263F0DCDC5}"/>
              </a:ext>
            </a:extLst>
          </p:cNvPr>
          <p:cNvSpPr/>
          <p:nvPr/>
        </p:nvSpPr>
        <p:spPr>
          <a:xfrm>
            <a:off x="8100392" y="4371950"/>
            <a:ext cx="86409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metric_infos</a:t>
            </a:r>
            <a:endParaRPr lang="zh-CN" altLang="en-US" sz="1000" b="1"/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5DC9F152-2CE5-24FF-87DF-977E6C3BA129}"/>
              </a:ext>
            </a:extLst>
          </p:cNvPr>
          <p:cNvCxnSpPr>
            <a:cxnSpLocks/>
            <a:stCxn id="241" idx="2"/>
            <a:endCxn id="202" idx="0"/>
          </p:cNvCxnSpPr>
          <p:nvPr/>
        </p:nvCxnSpPr>
        <p:spPr>
          <a:xfrm>
            <a:off x="8532440" y="2283718"/>
            <a:ext cx="0" cy="2088232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0504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" grpId="0"/>
      <p:bldP spid="241" grpId="0"/>
      <p:bldP spid="15" grpId="0"/>
      <p:bldP spid="16" grpId="0" animBg="1"/>
      <p:bldP spid="17" grpId="0" animBg="1"/>
      <p:bldP spid="18" grpId="0" animBg="1"/>
      <p:bldP spid="20" grpId="0" animBg="1"/>
      <p:bldP spid="23" grpId="0" animBg="1"/>
      <p:bldP spid="45" grpId="0" animBg="1"/>
      <p:bldP spid="60" grpId="0" animBg="1"/>
      <p:bldP spid="73" grpId="0" animBg="1"/>
      <p:bldP spid="50" grpId="0" animBg="1"/>
      <p:bldP spid="169" grpId="0" animBg="1"/>
      <p:bldP spid="170" grpId="0" animBg="1"/>
      <p:bldP spid="174" grpId="0" animBg="1"/>
      <p:bldP spid="177" grpId="0" animBg="1"/>
      <p:bldP spid="20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7105-0173-EF71-2B92-64D98AF19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C0B8D7E-BE6E-6C93-4BA0-5A9E36242834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CB8B40C-51EF-BCEB-E91B-D5E82A35DD93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2AEF891-B21E-9FCC-1E8D-E7B3295DE12A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8696235-8072-EFD6-0006-8B45F4540064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BF8DFB-2F08-7805-5CEE-0A24360BDE9E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6C8EF3-0A63-703B-8A26-4C13D268E531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0DA5B3E-1F6D-651F-7FBD-0B395A26A415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3F24085-A9F7-F406-10ED-5A94446B2915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B4EA2F2-2A65-FEF6-3DA4-ECEE63F5B48E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50B675E-61EE-24A0-CC54-CBEFEC4B89EF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BE54B9-72D6-ACC1-D765-F0658084881E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09CEE14-8CD2-D185-0732-01A0064BC4D6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2DFD6C0-555A-3003-481D-90867181E27D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F12BEED2-616B-CD41-3B4F-31951D5D61AA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54B4F4D6-7DB2-352F-9F02-8E17032AB0B7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83CADB1-3E41-8974-5AE4-1304CA3658CB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2AFF5D6C-98DB-ABE8-4F56-6CCA8BDAB29C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31BBFABB-C450-07EA-CE70-2B3394A2E067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70ECB33B-2977-781A-6893-ED793A20F373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BA131D55-240D-FD03-24AA-78C2B0C9689E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50A1F07E-371E-DEFD-0B85-7DBBD9A3BC10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DABBCFF3-AC29-D4FB-95EA-BA299CDA5C29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FAE10007-D2DD-BBCF-E59F-8338CDA83781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22CADE6A-7044-AD3A-976C-A74E7ADC08DC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320754C4-F513-9BD4-EE27-E7704B39F3F0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DFCCFCDD-AE8A-040B-E3AD-789A6E6BBA2D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73D5CCD4-6746-F4F7-C70E-A8E53985F61E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76FFE586-4F7F-A102-AAAA-57C806F20B0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E82708CB-07A2-E26B-5C2C-C39ECAB5ACE7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BD7DE26-D967-1F51-649B-BF460F086A2B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D6F484-1825-363F-5744-0883FBEF8EAF}"/>
              </a:ext>
            </a:extLst>
          </p:cNvPr>
          <p:cNvSpPr txBox="1"/>
          <p:nvPr/>
        </p:nvSpPr>
        <p:spPr>
          <a:xfrm>
            <a:off x="4860032" y="915566"/>
            <a:ext cx="41044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通过 </a:t>
            </a:r>
            <a:r>
              <a:rPr lang="en-US" altLang="zh-CN" sz="1100"/>
              <a:t>LLM </a:t>
            </a:r>
            <a:r>
              <a:rPr lang="zh-CN" altLang="en-US" sz="1100"/>
              <a:t>对召回的指标信息进行语义筛选，去除与当前问题无关或冗余的指标，只保留与用户查询意图强相关的核心指标，减少干扰，为后续生成 </a:t>
            </a:r>
            <a:r>
              <a:rPr lang="en-US" altLang="zh-CN" sz="1100"/>
              <a:t>SQL </a:t>
            </a:r>
            <a:r>
              <a:rPr lang="zh-CN" altLang="en-US" sz="1100"/>
              <a:t>提供更精准的上下文。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B5F55EE-6064-EE2E-607E-C1B63828C36B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C7F6C64-1F6A-774F-E836-9D2E1DB6562A}"/>
              </a:ext>
            </a:extLst>
          </p:cNvPr>
          <p:cNvSpPr/>
          <p:nvPr/>
        </p:nvSpPr>
        <p:spPr>
          <a:xfrm>
            <a:off x="4932040" y="1563638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13C8C0C-966C-E274-6FBD-16BEA85C426B}"/>
              </a:ext>
            </a:extLst>
          </p:cNvPr>
          <p:cNvSpPr txBox="1"/>
          <p:nvPr/>
        </p:nvSpPr>
        <p:spPr>
          <a:xfrm>
            <a:off x="6660232" y="1923678"/>
            <a:ext cx="1008112" cy="344866"/>
          </a:xfrm>
          <a:prstGeom prst="roundRect">
            <a:avLst>
              <a:gd name="adj" fmla="val 9555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 sz="1000"/>
          </a:p>
          <a:p>
            <a:r>
              <a:rPr lang="en-US" altLang="zh-CN" sz="1000"/>
              <a:t>GMV, AOV</a:t>
            </a:r>
            <a:endParaRPr lang="zh-CN" altLang="en-US" sz="1000"/>
          </a:p>
        </p:txBody>
      </p:sp>
      <p:sp>
        <p:nvSpPr>
          <p:cNvPr id="28" name="文本框 27">
            <a:hlinkClick r:id="rId3"/>
            <a:extLst>
              <a:ext uri="{FF2B5EF4-FFF2-40B4-BE49-F238E27FC236}">
                <a16:creationId xmlns:a16="http://schemas.microsoft.com/office/drawing/2014/main" id="{174DCDB8-8B59-A172-CBDC-1EBB54962783}"/>
              </a:ext>
            </a:extLst>
          </p:cNvPr>
          <p:cNvSpPr txBox="1"/>
          <p:nvPr/>
        </p:nvSpPr>
        <p:spPr>
          <a:xfrm>
            <a:off x="6660232" y="2715766"/>
            <a:ext cx="1008112" cy="360628"/>
          </a:xfrm>
          <a:prstGeom prst="roundRect">
            <a:avLst>
              <a:gd name="adj" fmla="val 16680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 sz="1000"/>
          </a:p>
          <a:p>
            <a:r>
              <a:rPr lang="en-US" altLang="zh-CN" sz="1000"/>
              <a:t>GMV</a:t>
            </a:r>
            <a:r>
              <a:rPr lang="zh-CN" altLang="en-US" sz="1000"/>
              <a:t>🔗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CBEAE4B-46A8-15B0-E769-51B0365F83E4}"/>
              </a:ext>
            </a:extLst>
          </p:cNvPr>
          <p:cNvCxnSpPr>
            <a:cxnSpLocks/>
            <a:stCxn id="27" idx="2"/>
            <a:endCxn id="39" idx="0"/>
          </p:cNvCxnSpPr>
          <p:nvPr/>
        </p:nvCxnSpPr>
        <p:spPr>
          <a:xfrm>
            <a:off x="7164288" y="2268544"/>
            <a:ext cx="0" cy="375214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44ECA3E-A84D-2289-7826-2BD398EEF790}"/>
              </a:ext>
            </a:extLst>
          </p:cNvPr>
          <p:cNvSpPr/>
          <p:nvPr/>
        </p:nvSpPr>
        <p:spPr>
          <a:xfrm>
            <a:off x="7236296" y="2355726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/>
              <a:t>过滤指标信息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A2B282B5-4A59-21A3-543F-8152B8FB1F29}"/>
              </a:ext>
            </a:extLst>
          </p:cNvPr>
          <p:cNvSpPr/>
          <p:nvPr/>
        </p:nvSpPr>
        <p:spPr>
          <a:xfrm>
            <a:off x="6732240" y="1851670"/>
            <a:ext cx="864096" cy="144016"/>
          </a:xfrm>
          <a:prstGeom prst="roundRect">
            <a:avLst>
              <a:gd name="adj" fmla="val 24934"/>
            </a:avLst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metric_infos</a:t>
            </a:r>
            <a:endParaRPr lang="zh-CN" altLang="en-US" sz="1000" b="1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2AA1924B-5BCB-FD51-7FFF-D29C4C8F39BB}"/>
              </a:ext>
            </a:extLst>
          </p:cNvPr>
          <p:cNvSpPr/>
          <p:nvPr/>
        </p:nvSpPr>
        <p:spPr>
          <a:xfrm>
            <a:off x="6732240" y="2643758"/>
            <a:ext cx="86409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metric_infos</a:t>
            </a:r>
            <a:endParaRPr lang="zh-CN" altLang="en-US" sz="1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93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 animBg="1"/>
      <p:bldP spid="27" grpId="0" animBg="1"/>
      <p:bldP spid="28" grpId="0" animBg="1"/>
      <p:bldP spid="32" grpId="0" animBg="1"/>
      <p:bldP spid="3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F36BF-933C-98A8-1217-F0953FB4C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B3F367C-C2BB-C02C-9EAD-87618D26F81F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EB7846E-70BB-D318-0596-EF752785963D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CDCD65B-B23A-DF8C-C55C-8CF12A4836CC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BEFF9CE-65E2-71B6-55E8-77E7D224CBC2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C87A04-ADE7-EFED-B5C9-AE5BAC4226E2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35825FE-51A1-BEEE-3F37-647883F5DB8B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2E6572A-8F3D-ABD1-8937-895AB0731D07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E9EB4D1-9F51-79D3-0A36-C4F2706A5E70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D771F3A-4127-715D-528C-151109D2AB2B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6E09D78-198A-5B50-8C7E-E226C2209833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FD95FCC-7874-3583-E8D3-2750F7A3C634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B2E0DDE-A030-E76A-C015-1D5855D28986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D352D0-F766-2DF1-7977-324DDC69A7A2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C2930549-0A27-2336-975A-A1F2AFBAD9BB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A3D2B2D9-E580-21FF-EEC7-801BA1ACD8C0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4AECBA7-1866-27B6-E2B1-7877637DF707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31BF2DC-B7E1-4839-608B-EDD9E59F967A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2403770B-588E-800A-BC4B-0772C9FDA5F3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0965AFC3-9EF0-F432-FF9A-0B179CDEF796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31BC47C5-A4A3-4D5E-0499-51D76E34FAB3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EFEFFAF5-EC63-7EED-A147-3CBF7C8928AB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BB35730F-AEE1-7931-57F3-BB43B06EFC2F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8AB88BF2-F0B2-8211-5CB6-58E5DEE2BFB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DE3199B6-AF10-D77A-EA70-8067AF32B4C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30B73037-A0EA-695A-4B22-4E2AE7D398C0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93427D8B-EA32-2E6D-E7C7-506DA520144A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2560E537-D39E-67DC-ADEF-FE8E8C70EC98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7A0EFF11-B5D6-0412-6615-B6834486F5E8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B73A817D-10B6-C4D8-AB98-ED568895A242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28F94365-C44A-D098-CD6F-62424F7937A0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E21C83B-3FE0-7CE3-225B-92209CEB3229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8788EEA-F2CB-A6AC-EA7D-B2BC0715993B}"/>
              </a:ext>
            </a:extLst>
          </p:cNvPr>
          <p:cNvSpPr/>
          <p:nvPr/>
        </p:nvSpPr>
        <p:spPr>
          <a:xfrm>
            <a:off x="4932040" y="1635646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5EF7CD-92CF-BBDE-6A88-D8879F013F35}"/>
              </a:ext>
            </a:extLst>
          </p:cNvPr>
          <p:cNvSpPr txBox="1"/>
          <p:nvPr/>
        </p:nvSpPr>
        <p:spPr>
          <a:xfrm>
            <a:off x="5292080" y="2067694"/>
            <a:ext cx="3240360" cy="670502"/>
          </a:xfrm>
          <a:prstGeom prst="roundRect">
            <a:avLst>
              <a:gd name="adj" fmla="val 1003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endParaRPr lang="en-US" altLang="zh-CN" sz="1000" b="1">
              <a:solidFill>
                <a:srgbClr val="FF9704"/>
              </a:solidFill>
            </a:endParaRPr>
          </a:p>
          <a:p>
            <a:pPr algn="l"/>
            <a:r>
              <a:rPr lang="en-US" altLang="zh-CN" sz="1000" b="1">
                <a:solidFill>
                  <a:srgbClr val="FF9704"/>
                </a:solidFill>
              </a:rPr>
              <a:t>dim_region</a:t>
            </a:r>
            <a:r>
              <a:rPr lang="en-US" altLang="zh-CN" sz="1000"/>
              <a:t>(region_name, province, country, region_id)</a:t>
            </a:r>
          </a:p>
          <a:p>
            <a:pPr algn="l"/>
            <a:r>
              <a:rPr lang="en-US" altLang="zh-CN" sz="1000" b="1">
                <a:solidFill>
                  <a:srgbClr val="FF9704"/>
                </a:solidFill>
              </a:rPr>
              <a:t>fact_order</a:t>
            </a:r>
            <a:r>
              <a:rPr lang="en-US" altLang="zh-CN" sz="1000"/>
              <a:t>(order_quantity, order_amount, customer_id, date_id, order_id, product_id, region_id)</a:t>
            </a:r>
            <a:endParaRPr lang="zh-CN" altLang="en-US" sz="1000"/>
          </a:p>
        </p:txBody>
      </p:sp>
      <p:sp>
        <p:nvSpPr>
          <p:cNvPr id="21" name="文本框 20">
            <a:hlinkClick r:id="rId3"/>
            <a:extLst>
              <a:ext uri="{FF2B5EF4-FFF2-40B4-BE49-F238E27FC236}">
                <a16:creationId xmlns:a16="http://schemas.microsoft.com/office/drawing/2014/main" id="{C6231D8B-DCFF-B5F5-ECB2-89A9F48076F1}"/>
              </a:ext>
            </a:extLst>
          </p:cNvPr>
          <p:cNvSpPr txBox="1"/>
          <p:nvPr/>
        </p:nvSpPr>
        <p:spPr>
          <a:xfrm>
            <a:off x="5724128" y="3219822"/>
            <a:ext cx="2376264" cy="507684"/>
          </a:xfrm>
          <a:prstGeom prst="roundRect">
            <a:avLst>
              <a:gd name="adj" fmla="val 1003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endParaRPr lang="en-US" altLang="zh-CN" sz="1000" b="1">
              <a:solidFill>
                <a:srgbClr val="FF9704"/>
              </a:solidFill>
            </a:endParaRPr>
          </a:p>
          <a:p>
            <a:pPr algn="l"/>
            <a:r>
              <a:rPr lang="en-US" altLang="zh-CN" sz="1000" b="1">
                <a:solidFill>
                  <a:srgbClr val="FF9704"/>
                </a:solidFill>
              </a:rPr>
              <a:t>dim_region</a:t>
            </a:r>
            <a:r>
              <a:rPr lang="en-US" altLang="zh-CN" sz="1000"/>
              <a:t>(region_name, region_id)</a:t>
            </a:r>
          </a:p>
          <a:p>
            <a:pPr algn="l"/>
            <a:r>
              <a:rPr lang="en-US" altLang="zh-CN" sz="1000" b="1">
                <a:solidFill>
                  <a:srgbClr val="FF9704"/>
                </a:solidFill>
              </a:rPr>
              <a:t>fact_order</a:t>
            </a:r>
            <a:r>
              <a:rPr lang="en-US" altLang="zh-CN" sz="1000"/>
              <a:t>(order_amount, region_id)</a:t>
            </a:r>
            <a:r>
              <a:rPr lang="zh-CN" altLang="en-US" sz="1000"/>
              <a:t>🔗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C233C2F-3B25-BF86-F0B0-73F6998107DA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6912260" y="2738196"/>
            <a:ext cx="0" cy="409618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3FE4E55-418A-6380-A9D4-CE2AD41C45DE}"/>
              </a:ext>
            </a:extLst>
          </p:cNvPr>
          <p:cNvSpPr txBox="1"/>
          <p:nvPr/>
        </p:nvSpPr>
        <p:spPr>
          <a:xfrm>
            <a:off x="4860032" y="915566"/>
            <a:ext cx="41044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通过 </a:t>
            </a:r>
            <a:r>
              <a:rPr lang="en-US" altLang="zh-CN" sz="1100"/>
              <a:t>LLM </a:t>
            </a:r>
            <a:r>
              <a:rPr lang="zh-CN" altLang="en-US" sz="1100"/>
              <a:t>对召回的表格信息进行语义筛选，去除与当前问题无关的表格和字段，只保留与用户查询意图强相关的核心表格和字段，减少干扰，为后续生成 </a:t>
            </a:r>
            <a:r>
              <a:rPr lang="en-US" altLang="zh-CN" sz="1100"/>
              <a:t>SQL </a:t>
            </a:r>
            <a:r>
              <a:rPr lang="zh-CN" altLang="en-US" sz="1100"/>
              <a:t>提供更精准的上下文。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8953A23-E119-CBCF-A5CB-253E250FDE61}"/>
              </a:ext>
            </a:extLst>
          </p:cNvPr>
          <p:cNvSpPr/>
          <p:nvPr/>
        </p:nvSpPr>
        <p:spPr>
          <a:xfrm>
            <a:off x="6948264" y="2859782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800" b="1"/>
              <a:t>过滤表格信息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4893BB1-3764-D2B5-3F4A-3D537000AD90}"/>
              </a:ext>
            </a:extLst>
          </p:cNvPr>
          <p:cNvSpPr/>
          <p:nvPr/>
        </p:nvSpPr>
        <p:spPr>
          <a:xfrm>
            <a:off x="6516216" y="3147814"/>
            <a:ext cx="792088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table_infos</a:t>
            </a:r>
            <a:endParaRPr lang="zh-CN" altLang="en-US" sz="1000" b="1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AC9B9B9-F03F-8DBD-69C3-6845FFF067BB}"/>
              </a:ext>
            </a:extLst>
          </p:cNvPr>
          <p:cNvSpPr/>
          <p:nvPr/>
        </p:nvSpPr>
        <p:spPr>
          <a:xfrm>
            <a:off x="6516216" y="1995686"/>
            <a:ext cx="792088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table_infos</a:t>
            </a:r>
            <a:endParaRPr lang="zh-CN" altLang="en-US" sz="1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59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3" grpId="0"/>
      <p:bldP spid="24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6498A-745F-A2A4-CC8E-6FB72DE8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833FAF3-0996-9384-AE7D-13287ECD559B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6438332-C37F-532E-B71D-124CEB0983B7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2A59460-41B6-87C4-0848-6D7133789542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6DEEFAD-D0F1-BCE5-4472-C911CC63FA67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43A086E-7791-1A5D-7A4E-00AA206E1219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B1DBB80-5B5D-C1E3-0E7B-DF111B83038F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8C49D63-BE6A-F683-4311-DF1BC7B61477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CC25D1A-5A48-7A7C-63AE-67B23321C490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4381AA8-51BC-B0CD-8486-F3E4C3BA884C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600E9E8-1396-0D21-ED09-C630BBB7FA1D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23C2BEA-0A8F-08DF-92AD-4DF44DC526B4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A949DDF-3E45-551D-6628-CB6F0DD55BA1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3CE524A-58BC-211B-374B-20A38C1B047A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2B0016A2-C11E-B436-3571-BD43EE340640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2C7C13D1-0BF8-2BFF-9E50-BB77F9F9540A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34030B1-452D-1A00-6002-2CAB1E00086C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6323933C-5F75-B24F-FE10-5B656C291481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CED441FF-3ACF-EA08-8551-A8D6BE2B8EAB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2BD3F520-B61B-2E83-3F7B-426FC2AEF404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BF3581DC-5138-5EE9-8F2E-BEE8F1B09B21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9DDD826E-C508-F1BC-204F-2324F44753DC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C142C04F-C0E4-60E7-7189-8CB1CF1AA600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C13A0899-A502-B8BC-35EC-B6A05732A382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FFE6E625-ABF2-B64C-EDB6-FCF6226FAA8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10296A74-261B-4D19-D617-709CE1A34CBB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BED1417B-EF3A-4088-166A-492ACDEB161D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6BE53B99-A07E-997F-57D8-14993D234A75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D3FE651-428A-9EBE-0E40-E778B919FFE3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4A272A0A-2FAE-CAC9-3AF6-4ED377966404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D85B8362-E56D-7146-8152-B8BB898CDD18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43DB8EA-517E-A2BD-B891-C8E7A3EE74DF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C045F04-394A-B8CA-978F-1ED4FD22BBB7}"/>
              </a:ext>
            </a:extLst>
          </p:cNvPr>
          <p:cNvSpPr txBox="1"/>
          <p:nvPr/>
        </p:nvSpPr>
        <p:spPr>
          <a:xfrm>
            <a:off x="4860032" y="915566"/>
            <a:ext cx="41044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在生成 </a:t>
            </a:r>
            <a:r>
              <a:rPr lang="en-US" altLang="zh-CN" sz="1100"/>
              <a:t>SQL </a:t>
            </a:r>
            <a:r>
              <a:rPr lang="zh-CN" altLang="en-US" sz="1100"/>
              <a:t>前，补充必要的上下文信息，包括当前时间信息以及数据仓库环境信息（如数据库类型和版本）。这些信息将作为约束条件，帮助</a:t>
            </a:r>
            <a:r>
              <a:rPr lang="en-US" altLang="zh-CN" sz="1100"/>
              <a:t>LLM</a:t>
            </a:r>
            <a:r>
              <a:rPr lang="zh-CN" altLang="en-US" sz="1100"/>
              <a:t>生成符合实际执行环境的 </a:t>
            </a:r>
            <a:r>
              <a:rPr lang="en-US" altLang="zh-CN" sz="1100"/>
              <a:t>SQL</a:t>
            </a:r>
            <a:r>
              <a:rPr lang="zh-CN" altLang="en-US" sz="1100"/>
              <a:t>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DFC57BA-9221-C3FC-A92F-1BD7DFE17832}"/>
              </a:ext>
            </a:extLst>
          </p:cNvPr>
          <p:cNvSpPr/>
          <p:nvPr/>
        </p:nvSpPr>
        <p:spPr>
          <a:xfrm>
            <a:off x="4932040" y="1563638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3A6204-5D58-F759-4AEB-8EA56E7EFF3B}"/>
              </a:ext>
            </a:extLst>
          </p:cNvPr>
          <p:cNvSpPr txBox="1"/>
          <p:nvPr/>
        </p:nvSpPr>
        <p:spPr>
          <a:xfrm>
            <a:off x="6300192" y="2011987"/>
            <a:ext cx="936104" cy="507684"/>
          </a:xfrm>
          <a:prstGeom prst="roundRect">
            <a:avLst>
              <a:gd name="adj" fmla="val 9770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version: 8.0.44</a:t>
            </a:r>
          </a:p>
          <a:p>
            <a:r>
              <a:rPr lang="zh-CN" altLang="en-US"/>
              <a:t>dialect: mysql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180D527-F11D-1DAA-DAFC-D57CA01F3D71}"/>
              </a:ext>
            </a:extLst>
          </p:cNvPr>
          <p:cNvSpPr txBox="1"/>
          <p:nvPr/>
        </p:nvSpPr>
        <p:spPr>
          <a:xfrm>
            <a:off x="4932040" y="1995686"/>
            <a:ext cx="1152128" cy="664373"/>
          </a:xfrm>
          <a:prstGeom prst="roundRect">
            <a:avLst>
              <a:gd name="adj" fmla="val 937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date: 2026-02-03</a:t>
            </a:r>
          </a:p>
          <a:p>
            <a:r>
              <a:rPr lang="zh-CN" altLang="en-US"/>
              <a:t>weekday: Tuesday</a:t>
            </a:r>
          </a:p>
          <a:p>
            <a:r>
              <a:rPr lang="zh-CN" altLang="en-US"/>
              <a:t>quarter: Q1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07D5885-5079-7828-B919-ACE017681FF6}"/>
              </a:ext>
            </a:extLst>
          </p:cNvPr>
          <p:cNvSpPr/>
          <p:nvPr/>
        </p:nvSpPr>
        <p:spPr>
          <a:xfrm>
            <a:off x="5148064" y="1939979"/>
            <a:ext cx="720080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date_info</a:t>
            </a:r>
            <a:endParaRPr lang="zh-CN" altLang="en-US" sz="1000" b="1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59EED58-90D1-B096-8467-DB8A9233DC43}"/>
              </a:ext>
            </a:extLst>
          </p:cNvPr>
          <p:cNvSpPr/>
          <p:nvPr/>
        </p:nvSpPr>
        <p:spPr>
          <a:xfrm>
            <a:off x="6444208" y="1939979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db_info</a:t>
            </a:r>
            <a:endParaRPr lang="zh-CN" altLang="en-US" sz="1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2359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9" grpId="0" animBg="1"/>
      <p:bldP spid="21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AA2E-0DE3-F5A8-E2D7-9933E4AFB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9949291B-E024-9362-65A0-BCED83AE0477}"/>
              </a:ext>
            </a:extLst>
          </p:cNvPr>
          <p:cNvSpPr txBox="1"/>
          <p:nvPr/>
        </p:nvSpPr>
        <p:spPr>
          <a:xfrm>
            <a:off x="5076056" y="1851670"/>
            <a:ext cx="3672408" cy="1727494"/>
          </a:xfrm>
          <a:prstGeom prst="roundRect">
            <a:avLst>
              <a:gd name="adj" fmla="val 3068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C36D9C-6114-B126-B1C0-BE67899A25A7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D6B753E-854E-26F2-2C1D-1D3733623DC7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CD9F7C7-CE5B-F262-E223-E3108ABE8540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3D99431-3295-16BE-7F72-A43C03BFF07A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5499DE1-3CB6-39D3-84AA-BB1668DFA94B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8509CCD-CFEF-7E9E-167B-00C0AC83E844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D7986DA-D54A-A7D6-5E71-688A84283A5D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3B0065D-B85C-034D-43FB-9686CA77E917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704F968-3714-5984-DC40-30630032CE87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2DA702E-5B00-1CC5-2DD4-1344283EC377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BBD57E5-B4DE-A853-D79B-30DA42E104D0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AC06A4FB-44D8-46C6-AE8E-3703103A1E6A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9C71117-07A5-EF1C-C120-DD46052B2E1C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693568DD-E06B-9554-6520-ACBD0E947BD6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A1459900-67A0-BC10-16F9-C267748D0599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2B29409F-82ED-0AD4-135D-7130CC800B6D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7D148FDE-0629-24A0-8700-3B1B34C09CEE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EE4D6471-5E88-34D0-3426-8D9CCD88C709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858481B5-135C-1A85-EE13-F335EE7ABA92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C19DD716-EE32-D4CA-8C29-D225D3B90D0C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B2C25E2A-38F7-B89F-30FF-A1019F1042DD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D8C48ACE-DE72-2546-EF69-97773B5AACB3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8B425BB6-1059-1AA0-1344-33D81D8500E1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2CD5CA60-AB21-D07A-E9A6-CF900B1B7E4D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757EDE67-8364-74F2-2ABA-99D1200A1660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B713F652-6AF8-45A4-5895-A8527D7499C7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CF55AEA4-F731-E4B5-39D4-987BEA029F5B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9160A97D-9407-D8B3-60DC-BB36545F9A5B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DF86DF62-8123-0B29-F1EB-F4D0718F2D02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9F660A4-EC9D-1BA8-776E-3485326E6BC4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2D307A3-89B7-A83A-92F6-21E93A09EA45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BAA5561-50E7-0D92-CA65-AFF13EE1A469}"/>
              </a:ext>
            </a:extLst>
          </p:cNvPr>
          <p:cNvSpPr txBox="1"/>
          <p:nvPr/>
        </p:nvSpPr>
        <p:spPr>
          <a:xfrm>
            <a:off x="4860032" y="915566"/>
            <a:ext cx="4104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基于用户问题以及前面整理好的上下文信息（表格信息、指标信息、当前时间、数据仓库环境等），由模型生成可执行的 </a:t>
            </a:r>
            <a:r>
              <a:rPr lang="en-US" altLang="zh-CN" sz="1100"/>
              <a:t>SQL</a:t>
            </a:r>
            <a:r>
              <a:rPr lang="zh-CN" altLang="en-US" sz="1100"/>
              <a:t>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E4E2D06-DEE1-AF61-261E-1733BF0EDE7A}"/>
              </a:ext>
            </a:extLst>
          </p:cNvPr>
          <p:cNvSpPr/>
          <p:nvPr/>
        </p:nvSpPr>
        <p:spPr>
          <a:xfrm>
            <a:off x="4932040" y="1419622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示例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00C370-689D-3EA2-8EDA-7F2BE49AE09A}"/>
              </a:ext>
            </a:extLst>
          </p:cNvPr>
          <p:cNvSpPr txBox="1"/>
          <p:nvPr/>
        </p:nvSpPr>
        <p:spPr>
          <a:xfrm>
            <a:off x="7740352" y="2859782"/>
            <a:ext cx="936104" cy="507684"/>
          </a:xfrm>
          <a:prstGeom prst="roundRect">
            <a:avLst>
              <a:gd name="adj" fmla="val 9770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version: 8.0.44</a:t>
            </a:r>
          </a:p>
          <a:p>
            <a:r>
              <a:rPr lang="zh-CN" altLang="en-US"/>
              <a:t>dialect: mysql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7BEEDD1-8B83-271A-EAFE-EDA1D5C6DF72}"/>
              </a:ext>
            </a:extLst>
          </p:cNvPr>
          <p:cNvSpPr txBox="1"/>
          <p:nvPr/>
        </p:nvSpPr>
        <p:spPr>
          <a:xfrm>
            <a:off x="6444208" y="2843481"/>
            <a:ext cx="1152128" cy="664373"/>
          </a:xfrm>
          <a:prstGeom prst="roundRect">
            <a:avLst>
              <a:gd name="adj" fmla="val 937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r>
              <a:rPr lang="zh-CN" altLang="en-US"/>
              <a:t>date: 2026-02-03</a:t>
            </a:r>
          </a:p>
          <a:p>
            <a:r>
              <a:rPr lang="zh-CN" altLang="en-US"/>
              <a:t>weekday: Tuesday</a:t>
            </a:r>
          </a:p>
          <a:p>
            <a:r>
              <a:rPr lang="zh-CN" altLang="en-US"/>
              <a:t>quarter: Q1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7DA9D60-5F43-6897-029C-DA1E3A09D278}"/>
              </a:ext>
            </a:extLst>
          </p:cNvPr>
          <p:cNvSpPr/>
          <p:nvPr/>
        </p:nvSpPr>
        <p:spPr>
          <a:xfrm>
            <a:off x="6660232" y="2787774"/>
            <a:ext cx="720080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date_info</a:t>
            </a:r>
            <a:endParaRPr lang="zh-CN" altLang="en-US" sz="1000" b="1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1073A36-8EAC-C7A6-D3EB-49B33535DB25}"/>
              </a:ext>
            </a:extLst>
          </p:cNvPr>
          <p:cNvSpPr/>
          <p:nvPr/>
        </p:nvSpPr>
        <p:spPr>
          <a:xfrm>
            <a:off x="7884368" y="2787774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db_info</a:t>
            </a:r>
            <a:endParaRPr lang="zh-CN" altLang="en-US" sz="1000" b="1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29B3D6-6DF3-159D-311A-14782E2F3CDE}"/>
              </a:ext>
            </a:extLst>
          </p:cNvPr>
          <p:cNvSpPr txBox="1"/>
          <p:nvPr/>
        </p:nvSpPr>
        <p:spPr>
          <a:xfrm>
            <a:off x="5148064" y="2139702"/>
            <a:ext cx="2376264" cy="507684"/>
          </a:xfrm>
          <a:prstGeom prst="roundRect">
            <a:avLst>
              <a:gd name="adj" fmla="val 1003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endParaRPr lang="en-US" altLang="zh-CN" sz="1000" b="1">
              <a:solidFill>
                <a:srgbClr val="FF9704"/>
              </a:solidFill>
            </a:endParaRPr>
          </a:p>
          <a:p>
            <a:pPr algn="l"/>
            <a:r>
              <a:rPr lang="en-US" altLang="zh-CN" sz="1000" b="1">
                <a:solidFill>
                  <a:srgbClr val="FF9704"/>
                </a:solidFill>
              </a:rPr>
              <a:t>dim_region</a:t>
            </a:r>
            <a:r>
              <a:rPr lang="en-US" altLang="zh-CN" sz="1000"/>
              <a:t>(region_name, region_id)</a:t>
            </a:r>
          </a:p>
          <a:p>
            <a:pPr algn="l"/>
            <a:r>
              <a:rPr lang="en-US" altLang="zh-CN" sz="1000" b="1">
                <a:solidFill>
                  <a:srgbClr val="FF9704"/>
                </a:solidFill>
              </a:rPr>
              <a:t>fact_order</a:t>
            </a:r>
            <a:r>
              <a:rPr lang="en-US" altLang="zh-CN" sz="1000"/>
              <a:t>(order_amount, region_id)</a:t>
            </a:r>
            <a:endParaRPr lang="zh-CN" altLang="en-US" sz="100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311694F-BFBD-B4F8-2A89-7385E0EB4160}"/>
              </a:ext>
            </a:extLst>
          </p:cNvPr>
          <p:cNvSpPr/>
          <p:nvPr/>
        </p:nvSpPr>
        <p:spPr>
          <a:xfrm>
            <a:off x="5940152" y="2067694"/>
            <a:ext cx="792088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table_infos</a:t>
            </a:r>
            <a:endParaRPr lang="zh-CN" altLang="en-US" sz="1000" b="1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3B64FF-A7C8-6BE8-8FDE-7B1CC387CF2C}"/>
              </a:ext>
            </a:extLst>
          </p:cNvPr>
          <p:cNvSpPr txBox="1"/>
          <p:nvPr/>
        </p:nvSpPr>
        <p:spPr>
          <a:xfrm>
            <a:off x="7668344" y="2139702"/>
            <a:ext cx="1008112" cy="360628"/>
          </a:xfrm>
          <a:prstGeom prst="roundRect">
            <a:avLst>
              <a:gd name="adj" fmla="val 12454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 sz="1000"/>
          </a:p>
          <a:p>
            <a:r>
              <a:rPr lang="en-US" altLang="zh-CN" sz="1000"/>
              <a:t>GMV</a:t>
            </a:r>
            <a:endParaRPr lang="zh-CN" altLang="en-US" sz="100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28FAC33-8D5D-E87B-69D9-E5FD5CBB0CA3}"/>
              </a:ext>
            </a:extLst>
          </p:cNvPr>
          <p:cNvSpPr/>
          <p:nvPr/>
        </p:nvSpPr>
        <p:spPr>
          <a:xfrm>
            <a:off x="7740352" y="2067694"/>
            <a:ext cx="86409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metric_infos</a:t>
            </a:r>
            <a:endParaRPr lang="zh-CN" altLang="en-US" sz="1000" b="1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0514F46-5DF8-7FAE-142A-92D570CF2B26}"/>
              </a:ext>
            </a:extLst>
          </p:cNvPr>
          <p:cNvSpPr txBox="1"/>
          <p:nvPr/>
        </p:nvSpPr>
        <p:spPr>
          <a:xfrm>
            <a:off x="5148064" y="2859782"/>
            <a:ext cx="1152128" cy="507684"/>
          </a:xfrm>
          <a:prstGeom prst="roundRect">
            <a:avLst>
              <a:gd name="adj" fmla="val 1003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0" tIns="0" rIns="0" bIns="18000" rtlCol="0">
            <a:spAutoFit/>
          </a:bodyPr>
          <a:lstStyle>
            <a:defPPr>
              <a:defRPr lang="zh-CN"/>
            </a:defPPr>
            <a:lvl1pPr algn="ctr">
              <a:defRPr sz="11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 sz="1000" b="1">
              <a:solidFill>
                <a:srgbClr val="FF9704"/>
              </a:solidFill>
            </a:endParaRPr>
          </a:p>
          <a:p>
            <a:r>
              <a:rPr lang="zh-CN" altLang="en-US" sz="1000"/>
              <a:t>帮我统计一下华北</a:t>
            </a:r>
            <a:endParaRPr lang="en-US" altLang="zh-CN" sz="1000"/>
          </a:p>
          <a:p>
            <a:r>
              <a:rPr lang="zh-CN" altLang="en-US" sz="1000"/>
              <a:t>地区的销售总额</a:t>
            </a:r>
            <a:endParaRPr lang="en-US" altLang="zh-CN" sz="1000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19D579B-7DF3-1B8C-E756-143A3A4181B8}"/>
              </a:ext>
            </a:extLst>
          </p:cNvPr>
          <p:cNvSpPr/>
          <p:nvPr/>
        </p:nvSpPr>
        <p:spPr>
          <a:xfrm>
            <a:off x="5508104" y="2787774"/>
            <a:ext cx="504056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query</a:t>
            </a:r>
            <a:endParaRPr lang="zh-CN" altLang="en-US" sz="1000" b="1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25BA3432-22BA-9FF4-BFE5-3E7912109314}"/>
              </a:ext>
            </a:extLst>
          </p:cNvPr>
          <p:cNvSpPr/>
          <p:nvPr/>
        </p:nvSpPr>
        <p:spPr>
          <a:xfrm>
            <a:off x="6624228" y="1779662"/>
            <a:ext cx="576064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prompt</a:t>
            </a:r>
            <a:endParaRPr lang="zh-CN" altLang="en-US" sz="1000" b="1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8BC9893-EF57-F456-D857-61CBE95C5BF6}"/>
              </a:ext>
            </a:extLst>
          </p:cNvPr>
          <p:cNvSpPr txBox="1"/>
          <p:nvPr/>
        </p:nvSpPr>
        <p:spPr>
          <a:xfrm>
            <a:off x="5580112" y="4083918"/>
            <a:ext cx="2808312" cy="825703"/>
          </a:xfrm>
          <a:prstGeom prst="roundRect">
            <a:avLst>
              <a:gd name="adj" fmla="val 8817"/>
            </a:avLst>
          </a:prstGeom>
          <a:ln>
            <a:solidFill>
              <a:srgbClr val="FF970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36000" tIns="0" rIns="0" bIns="18000" rtlCol="0">
            <a:spAutoFit/>
          </a:bodyPr>
          <a:lstStyle>
            <a:defPPr>
              <a:defRPr lang="zh-CN"/>
            </a:defPPr>
            <a:lvl1pPr>
              <a:defRPr sz="1000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endParaRPr lang="en-US" altLang="zh-CN"/>
          </a:p>
          <a:p>
            <a:pPr>
              <a:buNone/>
            </a:pPr>
            <a:r>
              <a:rPr lang="en-US" altLang="zh-CN" sz="1000">
                <a:solidFill>
                  <a:srgbClr val="0033B3"/>
                </a:solidFill>
                <a:effectLst/>
                <a:latin typeface="JetBrains Mono"/>
              </a:rPr>
              <a:t>SELECT </a:t>
            </a:r>
            <a:r>
              <a:rPr lang="en-US" altLang="zh-CN" sz="1000" i="1">
                <a:solidFill>
                  <a:srgbClr val="00627A"/>
                </a:solidFill>
                <a:effectLst/>
                <a:latin typeface="JetBrains Mono"/>
              </a:rPr>
              <a:t>SUM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  <a:t>f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altLang="zh-CN" sz="1000">
                <a:solidFill>
                  <a:srgbClr val="871094"/>
                </a:solidFill>
                <a:effectLst/>
                <a:latin typeface="JetBrains Mono"/>
              </a:rPr>
              <a:t>order_amount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altLang="zh-CN" sz="1000">
                <a:solidFill>
                  <a:srgbClr val="0033B3"/>
                </a:solidFill>
                <a:effectLst/>
                <a:latin typeface="JetBrains Mono"/>
              </a:rPr>
              <a:t>AS </a:t>
            </a:r>
            <a: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  <a:t>GMV</a:t>
            </a:r>
            <a:b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000">
                <a:solidFill>
                  <a:srgbClr val="0033B3"/>
                </a:solidFill>
                <a:effectLst/>
                <a:latin typeface="JetBrains Mono"/>
              </a:rPr>
              <a:t>FROM </a:t>
            </a:r>
            <a: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  <a:t>fact_order f</a:t>
            </a:r>
            <a:b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  <a:t>         </a:t>
            </a:r>
            <a:r>
              <a:rPr lang="en-US" altLang="zh-CN" sz="1000">
                <a:solidFill>
                  <a:srgbClr val="0033B3"/>
                </a:solidFill>
                <a:effectLst/>
                <a:latin typeface="JetBrains Mono"/>
              </a:rPr>
              <a:t>JOIN </a:t>
            </a:r>
            <a: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  <a:t>dim_region r </a:t>
            </a:r>
            <a:r>
              <a:rPr lang="en-US" altLang="zh-CN" sz="1000">
                <a:solidFill>
                  <a:srgbClr val="0033B3"/>
                </a:solidFill>
                <a:effectLst/>
                <a:latin typeface="JetBrains Mono"/>
              </a:rPr>
              <a:t>ON </a:t>
            </a:r>
            <a: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  <a:t>f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altLang="zh-CN" sz="1000">
                <a:solidFill>
                  <a:srgbClr val="871094"/>
                </a:solidFill>
                <a:effectLst/>
                <a:latin typeface="JetBrains Mono"/>
              </a:rPr>
              <a:t>region_id 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altLang="zh-CN" sz="1000">
                <a:solidFill>
                  <a:srgbClr val="871094"/>
                </a:solidFill>
                <a:effectLst/>
                <a:latin typeface="JetBrains Mono"/>
              </a:rPr>
              <a:t>region_id</a:t>
            </a:r>
            <a:br>
              <a:rPr lang="en-US" altLang="zh-CN" sz="1000">
                <a:solidFill>
                  <a:srgbClr val="871094"/>
                </a:solidFill>
                <a:effectLst/>
                <a:latin typeface="JetBrains Mono"/>
              </a:rPr>
            </a:br>
            <a:r>
              <a:rPr lang="en-US" altLang="zh-CN" sz="1000">
                <a:solidFill>
                  <a:srgbClr val="0033B3"/>
                </a:solidFill>
                <a:effectLst/>
                <a:latin typeface="JetBrains Mono"/>
              </a:rPr>
              <a:t>WHERE </a:t>
            </a:r>
            <a:r>
              <a:rPr lang="en-US" altLang="zh-CN" sz="1000">
                <a:solidFill>
                  <a:srgbClr val="000000"/>
                </a:solidFill>
                <a:effectLst/>
                <a:latin typeface="JetBrains Mono"/>
              </a:rPr>
              <a:t>r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altLang="zh-CN" sz="1000">
                <a:solidFill>
                  <a:srgbClr val="871094"/>
                </a:solidFill>
                <a:effectLst/>
                <a:latin typeface="JetBrains Mono"/>
              </a:rPr>
              <a:t>region_name 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US" altLang="zh-CN" sz="100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zh-CN" altLang="en-US" sz="1000">
                <a:solidFill>
                  <a:srgbClr val="067D17"/>
                </a:solidFill>
                <a:effectLst/>
                <a:latin typeface="Courier New" panose="02070309020205020404" pitchFamily="49" charset="0"/>
              </a:rPr>
              <a:t>华北</a:t>
            </a:r>
            <a:r>
              <a:rPr lang="en-US" altLang="zh-CN" sz="1000"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lang="en-US" altLang="zh-CN" sz="1000">
                <a:solidFill>
                  <a:srgbClr val="080808"/>
                </a:solidFill>
                <a:effectLst/>
                <a:latin typeface="JetBrains Mono"/>
              </a:rPr>
              <a:t>;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7FE42A9-4182-DB41-C5D7-69C356F8FF60}"/>
              </a:ext>
            </a:extLst>
          </p:cNvPr>
          <p:cNvSpPr/>
          <p:nvPr/>
        </p:nvSpPr>
        <p:spPr>
          <a:xfrm>
            <a:off x="6624228" y="4011910"/>
            <a:ext cx="576064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18000" rtlCol="0" anchor="ctr"/>
          <a:lstStyle/>
          <a:p>
            <a:pPr algn="ctr"/>
            <a:r>
              <a:rPr lang="en-US" altLang="zh-CN" sz="1000" b="1"/>
              <a:t>sql</a:t>
            </a:r>
            <a:endParaRPr lang="zh-CN" altLang="en-US" sz="1000" b="1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8C1EB369-48E0-B470-8764-A9E177F6FA67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6912260" y="3579164"/>
            <a:ext cx="0" cy="432746"/>
          </a:xfrm>
          <a:prstGeom prst="straightConnector1">
            <a:avLst/>
          </a:prstGeom>
          <a:ln w="12700">
            <a:solidFill>
              <a:srgbClr val="FF97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9557AD9-0532-7B5D-0577-A7E045C97281}"/>
              </a:ext>
            </a:extLst>
          </p:cNvPr>
          <p:cNvSpPr/>
          <p:nvPr/>
        </p:nvSpPr>
        <p:spPr>
          <a:xfrm>
            <a:off x="6948264" y="3723878"/>
            <a:ext cx="648072" cy="144016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800" b="1"/>
              <a:t>LLM</a:t>
            </a:r>
            <a:r>
              <a:rPr lang="zh-CN" altLang="en-US" sz="800" b="1"/>
              <a:t>生成</a:t>
            </a:r>
            <a:r>
              <a:rPr lang="en-US" altLang="zh-CN" sz="800" b="1"/>
              <a:t>SQL</a:t>
            </a:r>
            <a:endParaRPr lang="zh-CN" altLang="en-US" sz="8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919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A9A0B-7F3C-F25A-63A8-51D65917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17CF1CD-1D54-A31C-FAC2-2BBA42B46F8D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D5AB3DE-7B7A-A89E-B088-3FCA96C65386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3B64339-D43B-7D2F-F683-2041801741D1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511E2FC-1134-EF68-30B4-8EAF7550E178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7AA4EE4-8113-27D7-5743-3726479BE694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D29EC40-FE04-5891-50F2-17F523C91272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258D3F5-184B-A149-D11E-DB0AE377F7F4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5878B56-2C44-A11F-9A74-EA96E2CE574D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88BE99E-6AC6-0475-5C7C-E49EFDC61B51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8A3586E-4B79-2292-0C3B-AE5FE73256E7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D96D6EE-2844-752B-0C41-6797921EF19D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1E599D6-2BE4-3A08-E868-8FC746AD3218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5F5F893-8592-8DE8-F27F-1D31098C0930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6164641B-FABB-FE3E-DD75-324A7E22640B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64351D6E-7754-1C9B-B69A-EB5B414F6C6B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4AB2B09-45DB-C833-260F-11B6A1544639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1BBC960B-6849-CBCE-C219-132740371372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C8FA73C0-1FB7-177D-D4CF-5D70D04CA28B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4532680D-FAD1-9AC9-5124-C831F18FA954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E0157537-E23F-EB11-B157-30ACC2599923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63AD11DF-E326-CCB0-AD00-60F87C35E60E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A4A951A8-3983-280D-F1FE-43A843EE6413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5C332213-6080-067B-587F-4684D3AEEE7C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2862BA65-375A-9AD0-D24E-73FC7D8433DE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C0CBAD8-923A-B1F5-527F-AF6E0A9B87C2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7E2F99D4-6808-787F-2E9C-2ED1BC38D5AF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55BD0DDC-2B85-F627-FDDA-C3A774F2F1CA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51D05FCA-4B3B-41CA-88D5-B0AE43D11DBF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FFBB36AE-1B6B-D563-09BB-4DF29ED55AD0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77EF02D-C9CE-7533-879F-C53B65722096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3C6D06F-1073-CADD-D1EA-902033D9EAF5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C4E521A-6D27-E03C-1F31-4E280AA19E04}"/>
              </a:ext>
            </a:extLst>
          </p:cNvPr>
          <p:cNvSpPr txBox="1"/>
          <p:nvPr/>
        </p:nvSpPr>
        <p:spPr>
          <a:xfrm>
            <a:off x="4860032" y="915566"/>
            <a:ext cx="41044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通过执行 </a:t>
            </a:r>
            <a:r>
              <a:rPr lang="en-US" altLang="zh-CN" sz="1100"/>
              <a:t>EXPLAIN &lt;SQL&gt; </a:t>
            </a:r>
            <a:r>
              <a:rPr lang="zh-CN" altLang="en-US" sz="1100"/>
              <a:t>对生成的 </a:t>
            </a:r>
            <a:r>
              <a:rPr lang="en-US" altLang="zh-CN" sz="1100"/>
              <a:t>SQL </a:t>
            </a:r>
            <a:r>
              <a:rPr lang="zh-CN" altLang="en-US" sz="1100"/>
              <a:t>进行预校验，提前发现语法问题；若校验通过则直接执行，若存在问题则收集报错信息，进入 </a:t>
            </a:r>
            <a:r>
              <a:rPr lang="en-US" altLang="zh-CN" sz="1100"/>
              <a:t>SQL </a:t>
            </a:r>
            <a:r>
              <a:rPr lang="zh-CN" altLang="en-US" sz="1100"/>
              <a:t>校正流程。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4033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E93AE-87AB-4C8E-5AB3-F2F465387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57E274E-0C40-8DD3-4F5E-AA02ADE16D23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D702ADB-A7E9-5594-D272-A4D34ED643F3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D08AD7C-D78F-5E9F-346A-8652488D994E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B290769-E634-6C71-0E40-04871F6E51C3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286E358-35DE-AFC7-7945-22F51C1D1C7E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F4809BC-C97E-BA1F-E8B4-D79053BB23A5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3293573-ED61-4757-E49B-934F139C03D9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A80964E-E0DE-487A-CBDC-A0B4C3F0055F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502EF67-BA1B-C9FB-FC9F-1180CB58A562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F6C367-A577-4983-05EC-8D3730E74F11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69646C5-4CBB-8F1E-BE9C-E91050F48A20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E906B4C-4378-13CF-4A61-EAAB636EFB19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512DA9C-0FDE-D7CF-8A45-04CA6E934F22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D79F1509-01B2-5604-DECF-D78541902BE2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08147BB8-B4A0-3370-5767-ADF0D67D8ED2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7DF53337-B8A7-479A-5FB5-146F02D2FBA8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5CABC92-1719-F9AB-3FDB-84FDE80EE814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9F3CE8C5-228F-E6F5-5862-0EE3DBD93D4F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47EDB5C1-63AB-4508-E24B-1525DAA212D9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A1E75435-8B2A-A2BA-0338-ADD7A4000F4B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053E1B34-9A5D-A0C8-8A06-83A985C5E516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EEC17F4D-2C9D-5FFB-53DE-B31FA834DC2E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854D667D-8C0C-56D5-3F6C-C5161F5C199C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C338DA47-6700-DE91-C969-11FF4BE330F6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B88F87B1-266F-1FDD-925A-E7D42AE4E491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5FA09B77-0168-1EA5-E69B-EE17050E1237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1B18D69E-7CCB-353E-EB70-A3F22EE21EA6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52EA4DD-025D-66E1-2E0B-249D8CE3CE67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774C753A-EA77-21F3-B6FF-E6944870EBD8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CDB526CB-8466-CC31-72DE-3B5DAFD0507D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5DFF4D4-E701-F70A-11FE-32D8AE10C437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3DCFC2-0376-EFC6-3372-01DF4CB82448}"/>
              </a:ext>
            </a:extLst>
          </p:cNvPr>
          <p:cNvSpPr txBox="1"/>
          <p:nvPr/>
        </p:nvSpPr>
        <p:spPr>
          <a:xfrm>
            <a:off x="4860032" y="915566"/>
            <a:ext cx="410445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根据用户问题、已有上下文以及校验阶段返回的错误信息，通过 </a:t>
            </a:r>
            <a:r>
              <a:rPr lang="en-US" altLang="zh-CN" sz="1100"/>
              <a:t>LLM </a:t>
            </a:r>
            <a:r>
              <a:rPr lang="zh-CN" altLang="en-US" sz="1100"/>
              <a:t>对 </a:t>
            </a:r>
            <a:r>
              <a:rPr lang="en-US" altLang="zh-CN" sz="1100"/>
              <a:t>SQL </a:t>
            </a:r>
            <a:r>
              <a:rPr lang="zh-CN" altLang="en-US" sz="1100"/>
              <a:t>进行针对性修正。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01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705DE-14E1-B47E-BA14-082DE1C5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066BCFFE-BE00-E488-405D-4BC72417AD0F}"/>
              </a:ext>
            </a:extLst>
          </p:cNvPr>
          <p:cNvSpPr/>
          <p:nvPr/>
        </p:nvSpPr>
        <p:spPr>
          <a:xfrm>
            <a:off x="714961" y="4980"/>
            <a:ext cx="1980029" cy="4001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问数智能体流程</a:t>
            </a:r>
            <a:endParaRPr lang="zh-CN" altLang="en-US" sz="20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2C6E25B-37CC-AD4A-5E0D-E4E4DAB8F612}"/>
              </a:ext>
            </a:extLst>
          </p:cNvPr>
          <p:cNvSpPr/>
          <p:nvPr/>
        </p:nvSpPr>
        <p:spPr>
          <a:xfrm>
            <a:off x="1691680" y="627534"/>
            <a:ext cx="1008112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抽取关键词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2FB0503-46E3-8653-8529-B5DEE57D57CE}"/>
              </a:ext>
            </a:extLst>
          </p:cNvPr>
          <p:cNvSpPr/>
          <p:nvPr/>
        </p:nvSpPr>
        <p:spPr>
          <a:xfrm>
            <a:off x="251520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召回字段信息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227A143-1743-1E66-055E-3B1E30CD8240}"/>
              </a:ext>
            </a:extLst>
          </p:cNvPr>
          <p:cNvSpPr/>
          <p:nvPr/>
        </p:nvSpPr>
        <p:spPr>
          <a:xfrm>
            <a:off x="1619672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召回指标信息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FA8E4D3-DB7D-9487-20CA-EB36CD7FE490}"/>
              </a:ext>
            </a:extLst>
          </p:cNvPr>
          <p:cNvSpPr/>
          <p:nvPr/>
        </p:nvSpPr>
        <p:spPr>
          <a:xfrm>
            <a:off x="2987824" y="1131590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召回字段取值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A65A7CB-2822-36C8-421F-9B9376D204CD}"/>
              </a:ext>
            </a:extLst>
          </p:cNvPr>
          <p:cNvSpPr/>
          <p:nvPr/>
        </p:nvSpPr>
        <p:spPr>
          <a:xfrm>
            <a:off x="1619672" y="1635646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合并召回信息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6BBB5ED-A561-D0B7-7773-0F253016AF1C}"/>
              </a:ext>
            </a:extLst>
          </p:cNvPr>
          <p:cNvSpPr/>
          <p:nvPr/>
        </p:nvSpPr>
        <p:spPr>
          <a:xfrm>
            <a:off x="827584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过滤指标信息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B8813B7-6326-F1EB-D91D-E3DE5E8BED37}"/>
              </a:ext>
            </a:extLst>
          </p:cNvPr>
          <p:cNvSpPr/>
          <p:nvPr/>
        </p:nvSpPr>
        <p:spPr>
          <a:xfrm>
            <a:off x="2411760" y="2139702"/>
            <a:ext cx="1152128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过滤表格信息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0ADA64F-B7CA-3113-2079-8911041754A7}"/>
              </a:ext>
            </a:extLst>
          </p:cNvPr>
          <p:cNvSpPr/>
          <p:nvPr/>
        </p:nvSpPr>
        <p:spPr>
          <a:xfrm>
            <a:off x="1547664" y="2643758"/>
            <a:ext cx="129614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增加额外上下文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96CEB14-41E4-2129-B776-2D2CA0555382}"/>
              </a:ext>
            </a:extLst>
          </p:cNvPr>
          <p:cNvSpPr/>
          <p:nvPr/>
        </p:nvSpPr>
        <p:spPr>
          <a:xfrm>
            <a:off x="1727684" y="3147814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生成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1FA8117-6ABB-3A56-934B-7CD901386FE7}"/>
              </a:ext>
            </a:extLst>
          </p:cNvPr>
          <p:cNvSpPr/>
          <p:nvPr/>
        </p:nvSpPr>
        <p:spPr>
          <a:xfrm>
            <a:off x="1727684" y="3651870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E1CEB67-8219-C537-0FBE-BC3DF4EA3CF9}"/>
              </a:ext>
            </a:extLst>
          </p:cNvPr>
          <p:cNvSpPr/>
          <p:nvPr/>
        </p:nvSpPr>
        <p:spPr>
          <a:xfrm>
            <a:off x="2915816" y="4083918"/>
            <a:ext cx="936104" cy="216024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校正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AFD6F01-0C21-03A9-7438-4AB6536911E1}"/>
              </a:ext>
            </a:extLst>
          </p:cNvPr>
          <p:cNvSpPr/>
          <p:nvPr/>
        </p:nvSpPr>
        <p:spPr>
          <a:xfrm>
            <a:off x="1727684" y="4659982"/>
            <a:ext cx="936104" cy="216024"/>
          </a:xfrm>
          <a:prstGeom prst="roundRect">
            <a:avLst/>
          </a:prstGeom>
          <a:solidFill>
            <a:srgbClr val="067C68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执行</a:t>
            </a:r>
            <a:r>
              <a:rPr lang="en-US" altLang="zh-CN" sz="1200"/>
              <a:t>SQL</a:t>
            </a:r>
            <a:endParaRPr lang="zh-CN" altLang="en-US" sz="1200"/>
          </a:p>
        </p:txBody>
      </p:sp>
      <p:cxnSp>
        <p:nvCxnSpPr>
          <p:cNvPr id="56" name="连接符: 肘形 55">
            <a:extLst>
              <a:ext uri="{FF2B5EF4-FFF2-40B4-BE49-F238E27FC236}">
                <a16:creationId xmlns:a16="http://schemas.microsoft.com/office/drawing/2014/main" id="{AC009851-932A-2B9C-A3E5-B156769AA611}"/>
              </a:ext>
            </a:extLst>
          </p:cNvPr>
          <p:cNvCxnSpPr>
            <a:stCxn id="2" idx="2"/>
            <a:endCxn id="3" idx="0"/>
          </p:cNvCxnSpPr>
          <p:nvPr/>
        </p:nvCxnSpPr>
        <p:spPr>
          <a:xfrm rot="5400000">
            <a:off x="1367644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连接符: 肘形 57">
            <a:extLst>
              <a:ext uri="{FF2B5EF4-FFF2-40B4-BE49-F238E27FC236}">
                <a16:creationId xmlns:a16="http://schemas.microsoft.com/office/drawing/2014/main" id="{18090E52-59AF-282D-5848-3CCF67F355BF}"/>
              </a:ext>
            </a:extLst>
          </p:cNvPr>
          <p:cNvCxnSpPr>
            <a:stCxn id="2" idx="2"/>
            <a:endCxn id="6" idx="0"/>
          </p:cNvCxnSpPr>
          <p:nvPr/>
        </p:nvCxnSpPr>
        <p:spPr>
          <a:xfrm rot="16200000" flipH="1">
            <a:off x="2735796" y="303498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3145CAA6-E1CA-0FAB-FA6D-53D5CA640EE2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2195736" y="84355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36504DDC-618F-A123-C79C-79D172A0838D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195736" y="1347614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C39F1F08-D074-A0D3-26D7-2EA09029EECB}"/>
              </a:ext>
            </a:extLst>
          </p:cNvPr>
          <p:cNvCxnSpPr>
            <a:stCxn id="3" idx="2"/>
            <a:endCxn id="7" idx="0"/>
          </p:cNvCxnSpPr>
          <p:nvPr/>
        </p:nvCxnSpPr>
        <p:spPr>
          <a:xfrm rot="16200000" flipH="1">
            <a:off x="1367644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连接符: 肘形 69">
            <a:extLst>
              <a:ext uri="{FF2B5EF4-FFF2-40B4-BE49-F238E27FC236}">
                <a16:creationId xmlns:a16="http://schemas.microsoft.com/office/drawing/2014/main" id="{D9D91555-2FC4-D1AD-D77B-DF3834E2D695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2735796" y="807554"/>
            <a:ext cx="288032" cy="136815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E3E25602-D8B7-B23E-4FDE-00C4F931FA73}"/>
              </a:ext>
            </a:extLst>
          </p:cNvPr>
          <p:cNvCxnSpPr>
            <a:stCxn id="7" idx="2"/>
            <a:endCxn id="8" idx="0"/>
          </p:cNvCxnSpPr>
          <p:nvPr/>
        </p:nvCxnSpPr>
        <p:spPr>
          <a:xfrm rot="5400000">
            <a:off x="1655676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018FFA52-B40F-1F2F-5B48-0518F6F8442E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16200000" flipH="1">
            <a:off x="2447764" y="1599642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323B6AE5-AE7E-7224-A582-50C633AE1839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rot="16200000" flipH="1">
            <a:off x="1655676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B16A2F14-3D1F-E733-8268-BC89CDA105D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2447764" y="2103698"/>
            <a:ext cx="288032" cy="79208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7103AA37-F2A2-72F8-5BB8-7E9C57D0DBF1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195736" y="2859782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F90FC1C-03B3-AB1E-CDFB-1128EE694113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2195736" y="3363838"/>
            <a:ext cx="0" cy="288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BA19B9C5-F7AE-510F-CDB5-4679B73CCE69}"/>
              </a:ext>
            </a:extLst>
          </p:cNvPr>
          <p:cNvCxnSpPr>
            <a:stCxn id="12" idx="3"/>
            <a:endCxn id="13" idx="0"/>
          </p:cNvCxnSpPr>
          <p:nvPr/>
        </p:nvCxnSpPr>
        <p:spPr>
          <a:xfrm>
            <a:off x="2663788" y="3759882"/>
            <a:ext cx="720080" cy="32403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89F5F7FB-0E19-742A-23AA-61B2C8F4349C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2609782" y="3885896"/>
            <a:ext cx="360040" cy="118813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E36A994A-552D-2C9B-AC38-D7012625A280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2195736" y="3867894"/>
            <a:ext cx="0" cy="7920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CB31672E-5D1A-986F-8B9B-0BECBAC43333}"/>
              </a:ext>
            </a:extLst>
          </p:cNvPr>
          <p:cNvSpPr txBox="1"/>
          <p:nvPr/>
        </p:nvSpPr>
        <p:spPr>
          <a:xfrm>
            <a:off x="1691680" y="4011910"/>
            <a:ext cx="5040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无误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5E8482AE-E1E3-0B39-FCBC-CFD2549583D0}"/>
              </a:ext>
            </a:extLst>
          </p:cNvPr>
          <p:cNvSpPr txBox="1"/>
          <p:nvPr/>
        </p:nvSpPr>
        <p:spPr>
          <a:xfrm>
            <a:off x="2771800" y="3507854"/>
            <a:ext cx="5760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00"/>
              <a:t>有误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C59460-C4A3-B816-25AD-0E93DA411A21}"/>
              </a:ext>
            </a:extLst>
          </p:cNvPr>
          <p:cNvSpPr/>
          <p:nvPr/>
        </p:nvSpPr>
        <p:spPr>
          <a:xfrm>
            <a:off x="4932040" y="627534"/>
            <a:ext cx="504056" cy="216024"/>
          </a:xfrm>
          <a:prstGeom prst="roundRect">
            <a:avLst/>
          </a:prstGeom>
          <a:solidFill>
            <a:srgbClr val="FF970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/>
              <a:t>职责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967D21-7F2A-E9CB-42F7-0430A5931DCB}"/>
              </a:ext>
            </a:extLst>
          </p:cNvPr>
          <p:cNvSpPr txBox="1"/>
          <p:nvPr/>
        </p:nvSpPr>
        <p:spPr>
          <a:xfrm>
            <a:off x="4860032" y="915566"/>
            <a:ext cx="41044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/>
              <a:t>执行</a:t>
            </a:r>
            <a:r>
              <a:rPr lang="en-US" altLang="zh-CN" sz="1100"/>
              <a:t>SQL</a:t>
            </a:r>
            <a:r>
              <a:rPr lang="zh-CN" altLang="en-US" sz="1100"/>
              <a:t>语句。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555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1631</Words>
  <Application>Microsoft Office PowerPoint</Application>
  <PresentationFormat>全屏显示(16:9)</PresentationFormat>
  <Paragraphs>372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JetBrains Mono</vt:lpstr>
      <vt:lpstr>等线</vt:lpstr>
      <vt:lpstr>Arial</vt:lpstr>
      <vt:lpstr>Calibri</vt:lpstr>
      <vt:lpstr>Courier New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bo liu</cp:lastModifiedBy>
  <cp:revision>174</cp:revision>
  <dcterms:created xsi:type="dcterms:W3CDTF">2018-03-01T02:03:00Z</dcterms:created>
  <dcterms:modified xsi:type="dcterms:W3CDTF">2026-02-03T07:27:00Z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